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95" r:id="rId5"/>
    <p:sldId id="322" r:id="rId6"/>
    <p:sldId id="316" r:id="rId7"/>
    <p:sldId id="306" r:id="rId8"/>
    <p:sldId id="321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298" r:id="rId18"/>
    <p:sldId id="317" r:id="rId19"/>
    <p:sldId id="318" r:id="rId20"/>
    <p:sldId id="320" r:id="rId21"/>
    <p:sldId id="319" r:id="rId22"/>
    <p:sldId id="307" r:id="rId23"/>
  </p:sldIdLst>
  <p:sldSz cx="9144000" cy="5143500" type="screen16x9"/>
  <p:notesSz cx="6858000" cy="9144000"/>
  <p:embeddedFontLst>
    <p:embeddedFont>
      <p:font typeface="DM Sans"/>
      <p:regular r:id="rId27"/>
    </p:embeddedFont>
    <p:embeddedFont>
      <p:font typeface="Verdana Pro Black" panose="020B0A04030504040204" pitchFamily="34" charset="0"/>
      <p:regular r:id="rId28"/>
    </p:embeddedFont>
    <p:embeddedFont>
      <p:font typeface="Verdana Pro Black" panose="020B0A04030504040204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366"/>
    <a:srgbClr val="5ACBE5"/>
    <a:srgbClr val="060861"/>
    <a:srgbClr val="060860"/>
    <a:srgbClr val="070E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53B7AA-8CF8-4D28-97A8-8C978B483A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4cd280f8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4cd280f8a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Today we’re not reporting results—we’re ensuring we can deliver them. The asks are surgical: 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4d79472916_0_2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37" name="Google Shape;837;g24d79472916_0_2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Today we’re not reporting results—we’re ensuring we can deliver them. The asks are surgical: 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Today we’re not reporting results—we’re ensuring we can deliver them. The asks are surgical: 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4d79472916_0_2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37" name="Google Shape;837;g24d79472916_0_2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Today we’re not reporting results—we’re ensuring we can deliver them. The asks are surgical: 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Today we’re not reporting results—we’re ensuring we can deliver them. The asks are surgical: 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Today we’re not reporting results—we’re ensuring we can deliver them. The asks are surgical: 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Today we’re not reporting results—we’re ensuring we can deliver them. The asks are surgical: 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Today we’re not reporting results—we’re ensuring we can deliver them. The asks are surgical: 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Today we’re not reporting results—we’re ensuring we can deliver them. The asks are surgical: 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Today we’re not reporting results—we’re ensuring we can deliver them. The asks are surgical: </a:t>
            </a: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Today we’re not reporting results—we’re ensuring we can deliver them. The asks are surgical: </a:t>
            </a: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4d79472916_0_2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37" name="Google Shape;837;g24d79472916_0_2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4d79472916_0_2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37" name="Google Shape;837;g24d79472916_0_2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ue and white logo&#10;&#10;Açıklama otomatik olarak oluşturuldu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" y="0"/>
            <a:ext cx="9144000" cy="5143500"/>
          </a:xfrm>
          <a:prstGeom prst="rect">
            <a:avLst/>
          </a:prstGeom>
        </p:spPr>
      </p:pic>
      <p:cxnSp>
        <p:nvCxnSpPr>
          <p:cNvPr id="3" name="Straight Connector 12"/>
          <p:cNvCxnSpPr>
            <a:stCxn id="4" idx="3"/>
            <a:endCxn id="6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5" name="Picture 10" descr="flag_yellow_high.jpg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6" name="Metin kutusu 5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  <p:sp>
        <p:nvSpPr>
          <p:cNvPr id="8" name="Google Shape;227;p29"/>
          <p:cNvSpPr txBox="1">
            <a:spLocks noGrp="1"/>
          </p:cNvSpPr>
          <p:nvPr>
            <p:ph type="subTitle" idx="1" hasCustomPrompt="1"/>
          </p:nvPr>
        </p:nvSpPr>
        <p:spPr>
          <a:xfrm>
            <a:off x="4422964" y="3668255"/>
            <a:ext cx="4274011" cy="8076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r">
              <a:defRPr/>
            </a:lvl1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/>
              <a:t>Ömer Öztin | AI4SEC</a:t>
            </a:r>
            <a:endParaRPr lang="tr-TR" sz="18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/>
              <a:t>03.04.2025</a:t>
            </a:r>
            <a:endParaRPr lang="tr-TR" sz="1800"/>
          </a:p>
        </p:txBody>
      </p:sp>
      <p:sp>
        <p:nvSpPr>
          <p:cNvPr id="9" name="Google Shape;226;p29"/>
          <p:cNvSpPr txBox="1"/>
          <p:nvPr userDrawn="1"/>
        </p:nvSpPr>
        <p:spPr>
          <a:xfrm>
            <a:off x="4916148" y="1814454"/>
            <a:ext cx="3780827" cy="23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los Text ExtraBold"/>
              <a:buNone/>
              <a:defRPr sz="4500" b="0" i="0" u="none" strike="noStrike" cap="none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ExtraBold"/>
              <a:buNone/>
              <a:defRPr sz="5200" b="0" i="0" u="none" strike="noStrike" cap="none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ExtraBold"/>
              <a:buNone/>
              <a:defRPr sz="5200" b="0" i="0" u="none" strike="noStrike" cap="none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ExtraBold"/>
              <a:buNone/>
              <a:defRPr sz="5200" b="0" i="0" u="none" strike="noStrike" cap="none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ExtraBold"/>
              <a:buNone/>
              <a:defRPr sz="5200" b="0" i="0" u="none" strike="noStrike" cap="none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ExtraBold"/>
              <a:buNone/>
              <a:defRPr sz="5200" b="0" i="0" u="none" strike="noStrike" cap="none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ExtraBold"/>
              <a:buNone/>
              <a:defRPr sz="5200" b="0" i="0" u="none" strike="noStrike" cap="none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ExtraBold"/>
              <a:buNone/>
              <a:defRPr sz="5200" b="0" i="0" u="none" strike="noStrike" cap="none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ExtraBold"/>
              <a:buNone/>
              <a:defRPr sz="5200" b="0" i="0" u="none" strike="noStrike" cap="none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pPr algn="ctr"/>
            <a:r>
              <a:rPr lang="tr-TR" sz="800">
                <a:solidFill>
                  <a:srgbClr val="060861"/>
                </a:solidFill>
              </a:rPr>
              <a:t>A</a:t>
            </a:r>
            <a:r>
              <a:rPr lang="en-US" sz="800">
                <a:solidFill>
                  <a:srgbClr val="060861"/>
                </a:solidFill>
              </a:rPr>
              <a:t>I Engineering Suite to </a:t>
            </a:r>
            <a:r>
              <a:rPr lang="tr-TR" sz="800">
                <a:solidFill>
                  <a:srgbClr val="060861"/>
                </a:solidFill>
              </a:rPr>
              <a:t>S</a:t>
            </a:r>
            <a:r>
              <a:rPr lang="en-US" sz="800" err="1">
                <a:solidFill>
                  <a:srgbClr val="060861"/>
                </a:solidFill>
              </a:rPr>
              <a:t>upport</a:t>
            </a:r>
            <a:r>
              <a:rPr lang="en-US" sz="800">
                <a:solidFill>
                  <a:srgbClr val="060861"/>
                </a:solidFill>
              </a:rPr>
              <a:t> Agile Efficient</a:t>
            </a:r>
            <a:r>
              <a:rPr lang="tr-TR" sz="800">
                <a:solidFill>
                  <a:srgbClr val="060861"/>
                </a:solidFill>
              </a:rPr>
              <a:t> </a:t>
            </a:r>
            <a:r>
              <a:rPr lang="en-US" sz="800">
                <a:solidFill>
                  <a:srgbClr val="060861"/>
                </a:solidFill>
              </a:rPr>
              <a:t>Software Engineering​</a:t>
            </a:r>
            <a:endParaRPr lang="tr-TR" sz="800">
              <a:solidFill>
                <a:srgbClr val="060861"/>
              </a:solidFill>
              <a:highlight>
                <a:schemeClr val="dk2"/>
              </a:highlight>
            </a:endParaRPr>
          </a:p>
        </p:txBody>
      </p:sp>
      <p:pic>
        <p:nvPicPr>
          <p:cNvPr id="10" name="Resim 9" descr="A blue letter on a black background&#10;&#10;Yapay zeka tarafından oluşturulan içerik yanlış olabilir.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16149" y="1246701"/>
            <a:ext cx="3780826" cy="516696"/>
          </a:xfrm>
          <a:prstGeom prst="rect">
            <a:avLst/>
          </a:prstGeom>
        </p:spPr>
      </p:pic>
      <p:sp>
        <p:nvSpPr>
          <p:cNvPr id="13" name="Başlık 12"/>
          <p:cNvSpPr>
            <a:spLocks noGrp="1"/>
          </p:cNvSpPr>
          <p:nvPr>
            <p:ph type="title" hasCustomPrompt="1"/>
          </p:nvPr>
        </p:nvSpPr>
        <p:spPr>
          <a:xfrm>
            <a:off x="1190693" y="3076055"/>
            <a:ext cx="7506281" cy="592200"/>
          </a:xfr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algn="r">
              <a:defRPr lang="en-US" sz="3200" dirty="0">
                <a:latin typeface="Verdana Pro Black" panose="020B0A04030504040204" pitchFamily="34" charset="0"/>
                <a:sym typeface="Arial" panose="020B0604020202090204"/>
              </a:defRPr>
            </a:lvl1pPr>
          </a:lstStyle>
          <a:p>
            <a:pPr lvl="0" algn="r"/>
            <a:r>
              <a:rPr lang="tr-TR"/>
              <a:t>AI4SWENG Presentation </a:t>
            </a:r>
            <a:r>
              <a:rPr lang="tr-TR" err="1"/>
              <a:t>Template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Dikdörtgen 3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4741626" y="2106138"/>
            <a:ext cx="3507600" cy="16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741733" y="1480088"/>
            <a:ext cx="3507600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Verdana Pro Black" panose="020B0A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cxnSp>
        <p:nvCxnSpPr>
          <p:cNvPr id="6" name="Straight Connector 12"/>
          <p:cNvCxnSpPr>
            <a:stCxn id="7" idx="3"/>
            <a:endCxn id="9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8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9" name="Metin kutusu 8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Dikdörtgen 3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6" name="Straight Connector 12"/>
          <p:cNvCxnSpPr>
            <a:stCxn id="7" idx="3"/>
            <a:endCxn id="9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8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9" name="Metin kutusu 8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2_3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Dikdörtgen 3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grpSp>
        <p:nvGrpSpPr>
          <p:cNvPr id="192" name="Google Shape;192;p23"/>
          <p:cNvGrpSpPr/>
          <p:nvPr/>
        </p:nvGrpSpPr>
        <p:grpSpPr>
          <a:xfrm>
            <a:off x="373912" y="825155"/>
            <a:ext cx="8396407" cy="3300214"/>
            <a:chOff x="487350" y="566398"/>
            <a:chExt cx="8169300" cy="4010705"/>
          </a:xfrm>
        </p:grpSpPr>
        <p:sp>
          <p:nvSpPr>
            <p:cNvPr id="193" name="Google Shape;193;p23"/>
            <p:cNvSpPr/>
            <p:nvPr/>
          </p:nvSpPr>
          <p:spPr>
            <a:xfrm rot="10800000">
              <a:off x="487350" y="627965"/>
              <a:ext cx="8169300" cy="3884400"/>
            </a:xfrm>
            <a:prstGeom prst="roundRect">
              <a:avLst>
                <a:gd name="adj" fmla="val 6093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94" name="Google Shape;194;p23"/>
            <p:cNvGrpSpPr/>
            <p:nvPr/>
          </p:nvGrpSpPr>
          <p:grpSpPr>
            <a:xfrm rot="10800000">
              <a:off x="4478151" y="4457913"/>
              <a:ext cx="118496" cy="119189"/>
              <a:chOff x="6916887" y="844381"/>
              <a:chExt cx="102870" cy="103481"/>
            </a:xfrm>
          </p:grpSpPr>
          <p:sp>
            <p:nvSpPr>
              <p:cNvPr id="195" name="Google Shape;195;p23"/>
              <p:cNvSpPr/>
              <p:nvPr/>
            </p:nvSpPr>
            <p:spPr>
              <a:xfrm>
                <a:off x="6940943" y="868436"/>
                <a:ext cx="54757" cy="5537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6" name="Google Shape;196;p23"/>
              <p:cNvSpPr/>
              <p:nvPr/>
            </p:nvSpPr>
            <p:spPr>
              <a:xfrm>
                <a:off x="6916887" y="844381"/>
                <a:ext cx="102870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97" name="Google Shape;197;p23"/>
            <p:cNvGrpSpPr/>
            <p:nvPr/>
          </p:nvGrpSpPr>
          <p:grpSpPr>
            <a:xfrm rot="10800000">
              <a:off x="6888914" y="566398"/>
              <a:ext cx="118496" cy="119189"/>
              <a:chOff x="6620258" y="1050444"/>
              <a:chExt cx="102870" cy="103481"/>
            </a:xfrm>
          </p:grpSpPr>
          <p:sp>
            <p:nvSpPr>
              <p:cNvPr id="198" name="Google Shape;198;p23"/>
              <p:cNvSpPr/>
              <p:nvPr/>
            </p:nvSpPr>
            <p:spPr>
              <a:xfrm>
                <a:off x="6644314" y="1074499"/>
                <a:ext cx="54757" cy="5537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9" name="Google Shape;199;p23"/>
              <p:cNvSpPr/>
              <p:nvPr/>
            </p:nvSpPr>
            <p:spPr>
              <a:xfrm>
                <a:off x="6620258" y="1050444"/>
                <a:ext cx="102870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00" name="Google Shape;200;p23"/>
          <p:cNvSpPr txBox="1">
            <a:spLocks noGrp="1"/>
          </p:cNvSpPr>
          <p:nvPr>
            <p:ph type="title"/>
          </p:nvPr>
        </p:nvSpPr>
        <p:spPr>
          <a:xfrm>
            <a:off x="4760975" y="1587088"/>
            <a:ext cx="3555900" cy="9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highlight>
                  <a:srgbClr val="FFFFFF"/>
                </a:highlight>
                <a:latin typeface="Verdana Pro Black" panose="020B0A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" name="Google Shape;201;p23"/>
          <p:cNvSpPr txBox="1">
            <a:spLocks noGrp="1"/>
          </p:cNvSpPr>
          <p:nvPr>
            <p:ph type="subTitle" idx="1"/>
          </p:nvPr>
        </p:nvSpPr>
        <p:spPr>
          <a:xfrm>
            <a:off x="4760975" y="2569737"/>
            <a:ext cx="35559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6" name="Straight Connector 12"/>
          <p:cNvCxnSpPr>
            <a:stCxn id="7" idx="3"/>
            <a:endCxn id="9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8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9" name="Metin kutusu 8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 matchingName="Title and body">
  <p:cSld name="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erdana Pro Black" panose="020B0A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720000" y="1149037"/>
            <a:ext cx="2478300" cy="30443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5" name="Dikdörtgen 4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12"/>
          <p:cNvCxnSpPr>
            <a:stCxn id="7" idx="3"/>
            <a:endCxn id="9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8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9" name="Metin kutusu 8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 matchingName="Title and two columns">
  <p:cSld name="Title and two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Verdana Pro Black" panose="020B0A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0000" y="1149037"/>
            <a:ext cx="3666900" cy="30443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757100" y="1149037"/>
            <a:ext cx="3666900" cy="30443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u="sng"/>
            </a:lvl1pPr>
            <a:lvl2pPr marL="914400" lvl="1" indent="-304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matchingName="Title 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Verdana Pro Black" panose="020B0A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One column text">
  <p:cSld name="One column 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720000" y="1401575"/>
            <a:ext cx="6411004" cy="27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6411004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Verdana Pro Black" panose="020B0A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Main point">
  <p:cSld name="1_Main poi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1714950" y="1460850"/>
            <a:ext cx="5714100" cy="22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Verdana Pro Black" panose="020B0A0403050404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Section title and description">
  <p:cSld name="1_Section title and descri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4741626" y="2106138"/>
            <a:ext cx="3507600" cy="16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741733" y="1480088"/>
            <a:ext cx="3507600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Verdana Pro Black" panose="020B0A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Caption">
  <p:cSld name="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Google Shape;7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4726800" cy="14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redoka One"/>
              <a:buNone/>
              <a:defRPr>
                <a:latin typeface="Verdana Pro Black" panose="020B0A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Big number">
  <p:cSld name="Big numb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Google Shape;75;p11"/>
          <p:cNvSpPr txBox="1">
            <a:spLocks noGrp="1"/>
          </p:cNvSpPr>
          <p:nvPr>
            <p:ph type="title" hasCustomPrompt="1"/>
          </p:nvPr>
        </p:nvSpPr>
        <p:spPr>
          <a:xfrm>
            <a:off x="722299" y="1716600"/>
            <a:ext cx="3849600" cy="125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500"/>
              <a:buNone/>
              <a:defRPr sz="8500">
                <a:latin typeface="Verdana Pro Black" panose="020B0A0403050404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 flipH="1">
            <a:off x="722200" y="3089767"/>
            <a:ext cx="3096600" cy="5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77" name="Google Shape;77;p11"/>
          <p:cNvSpPr/>
          <p:nvPr/>
        </p:nvSpPr>
        <p:spPr>
          <a:xfrm>
            <a:off x="-465550" y="-465525"/>
            <a:ext cx="931098" cy="931062"/>
          </a:xfrm>
          <a:custGeom>
            <a:avLst/>
            <a:gdLst/>
            <a:ahLst/>
            <a:cxnLst/>
            <a:rect l="l" t="t" r="r" b="b"/>
            <a:pathLst>
              <a:path w="14425" h="14425" fill="none" extrusionOk="0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057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Blank">
  <p:cSld name="1_Blank">
    <p:bg>
      <p:bgPr>
        <a:noFill/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 and text 1">
  <p:cSld name="1_Title and text 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Google Shape;104;p14"/>
          <p:cNvSpPr txBox="1">
            <a:spLocks noGrp="1"/>
          </p:cNvSpPr>
          <p:nvPr>
            <p:ph type="body" idx="1"/>
          </p:nvPr>
        </p:nvSpPr>
        <p:spPr>
          <a:xfrm>
            <a:off x="720000" y="1133407"/>
            <a:ext cx="3852000" cy="2791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Verdana Pro Black" panose="020B0A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14"/>
          <p:cNvSpPr>
            <a:spLocks noGrp="1"/>
          </p:cNvSpPr>
          <p:nvPr>
            <p:ph type="pic" idx="2"/>
          </p:nvPr>
        </p:nvSpPr>
        <p:spPr>
          <a:xfrm>
            <a:off x="5282300" y="1138760"/>
            <a:ext cx="3054000" cy="3054600"/>
          </a:xfrm>
          <a:prstGeom prst="roundRect">
            <a:avLst>
              <a:gd name="adj" fmla="val 7563"/>
            </a:avLst>
          </a:prstGeom>
          <a:noFill/>
          <a:ln>
            <a:noFill/>
          </a:ln>
        </p:spPr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 and text 2">
  <p:cSld name="Title and text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Dikdörtgen 13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Google Shape;109;p15"/>
          <p:cNvSpPr txBox="1">
            <a:spLocks noGrp="1"/>
          </p:cNvSpPr>
          <p:nvPr>
            <p:ph type="subTitle" idx="1"/>
          </p:nvPr>
        </p:nvSpPr>
        <p:spPr>
          <a:xfrm>
            <a:off x="3750532" y="980650"/>
            <a:ext cx="4671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3750375" y="387600"/>
            <a:ext cx="4671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Verdana Pro Black" panose="020B0A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10" name="Straight Connector 12"/>
          <p:cNvCxnSpPr>
            <a:stCxn id="11" idx="3"/>
            <a:endCxn id="13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12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13" name="Metin kutusu 12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 and text 3">
  <p:cSld name="Title and text 3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754529" y="3381695"/>
            <a:ext cx="4671000" cy="7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754379" y="2788644"/>
            <a:ext cx="4671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Verdana Pro Black" panose="020B0A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 and two columns 1">
  <p:cSld name="Title and two columns 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Verdana Pro Black" panose="020B0A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7"/>
          <p:cNvSpPr txBox="1">
            <a:spLocks noGrp="1"/>
          </p:cNvSpPr>
          <p:nvPr>
            <p:ph type="subTitle" idx="1"/>
          </p:nvPr>
        </p:nvSpPr>
        <p:spPr>
          <a:xfrm>
            <a:off x="1005503" y="1355451"/>
            <a:ext cx="3242400" cy="80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Verdana Pro Black" panose="020B0A04030504040204" pitchFamily="34" charset="0"/>
                <a:ea typeface="Verdana Pro Black" panose="020B0A04030504040204" pitchFamily="34" charset="0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23" name="Google Shape;123;p17"/>
          <p:cNvSpPr txBox="1">
            <a:spLocks noGrp="1"/>
          </p:cNvSpPr>
          <p:nvPr>
            <p:ph type="subTitle" idx="2"/>
          </p:nvPr>
        </p:nvSpPr>
        <p:spPr>
          <a:xfrm>
            <a:off x="1005503" y="2136526"/>
            <a:ext cx="3242400" cy="13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4" name="Google Shape;124;p17"/>
          <p:cNvSpPr txBox="1">
            <a:spLocks noGrp="1"/>
          </p:cNvSpPr>
          <p:nvPr>
            <p:ph type="subTitle" idx="3"/>
          </p:nvPr>
        </p:nvSpPr>
        <p:spPr>
          <a:xfrm>
            <a:off x="4868659" y="1355451"/>
            <a:ext cx="3242400" cy="80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Verdana Pro Black" panose="020B0A04030504040204" pitchFamily="34" charset="0"/>
                <a:ea typeface="Verdana Pro Black" panose="020B0A04030504040204" pitchFamily="34" charset="0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25" name="Google Shape;125;p17"/>
          <p:cNvSpPr txBox="1">
            <a:spLocks noGrp="1"/>
          </p:cNvSpPr>
          <p:nvPr>
            <p:ph type="subTitle" idx="4"/>
          </p:nvPr>
        </p:nvSpPr>
        <p:spPr>
          <a:xfrm>
            <a:off x="4868659" y="2136526"/>
            <a:ext cx="3242400" cy="13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 and four columns">
  <p:cSld name="Title and four columns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  <p:sp>
        <p:nvSpPr>
          <p:cNvPr id="150" name="Google Shape;150;p19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16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Verdana Pro Black" panose="020B0A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19"/>
          <p:cNvSpPr txBox="1">
            <a:spLocks noGrp="1"/>
          </p:cNvSpPr>
          <p:nvPr>
            <p:ph type="subTitle" idx="1"/>
          </p:nvPr>
        </p:nvSpPr>
        <p:spPr>
          <a:xfrm>
            <a:off x="720002" y="1149036"/>
            <a:ext cx="3481668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Verdana Pro Black" panose="020B0A04030504040204" pitchFamily="34" charset="0"/>
                <a:ea typeface="Verdana Pro Black" panose="020B0A04030504040204" pitchFamily="34" charset="0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52" name="Google Shape;152;p19"/>
          <p:cNvSpPr txBox="1">
            <a:spLocks noGrp="1"/>
          </p:cNvSpPr>
          <p:nvPr>
            <p:ph type="subTitle" idx="2"/>
          </p:nvPr>
        </p:nvSpPr>
        <p:spPr>
          <a:xfrm>
            <a:off x="720000" y="1555090"/>
            <a:ext cx="3481668" cy="10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3" name="Google Shape;153;p19"/>
          <p:cNvSpPr txBox="1">
            <a:spLocks noGrp="1"/>
          </p:cNvSpPr>
          <p:nvPr>
            <p:ph type="subTitle" idx="3"/>
          </p:nvPr>
        </p:nvSpPr>
        <p:spPr>
          <a:xfrm>
            <a:off x="720002" y="2828246"/>
            <a:ext cx="3481668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Verdana Pro Black" panose="020B0A04030504040204" pitchFamily="34" charset="0"/>
                <a:ea typeface="Verdana Pro Black" panose="020B0A04030504040204" pitchFamily="34" charset="0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54" name="Google Shape;154;p19"/>
          <p:cNvSpPr txBox="1">
            <a:spLocks noGrp="1"/>
          </p:cNvSpPr>
          <p:nvPr>
            <p:ph type="subTitle" idx="4"/>
          </p:nvPr>
        </p:nvSpPr>
        <p:spPr>
          <a:xfrm>
            <a:off x="720000" y="3234312"/>
            <a:ext cx="3481668" cy="10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5" name="Google Shape;155;p19"/>
          <p:cNvSpPr txBox="1">
            <a:spLocks noGrp="1"/>
          </p:cNvSpPr>
          <p:nvPr>
            <p:ph type="subTitle" idx="5"/>
          </p:nvPr>
        </p:nvSpPr>
        <p:spPr>
          <a:xfrm>
            <a:off x="4563150" y="1149036"/>
            <a:ext cx="3481668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Verdana Pro Black" panose="020B0A04030504040204" pitchFamily="34" charset="0"/>
                <a:ea typeface="Verdana Pro Black" panose="020B0A04030504040204" pitchFamily="34" charset="0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56" name="Google Shape;156;p19"/>
          <p:cNvSpPr txBox="1">
            <a:spLocks noGrp="1"/>
          </p:cNvSpPr>
          <p:nvPr>
            <p:ph type="subTitle" idx="6"/>
          </p:nvPr>
        </p:nvSpPr>
        <p:spPr>
          <a:xfrm>
            <a:off x="4563151" y="1555084"/>
            <a:ext cx="3481668" cy="10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7" name="Google Shape;157;p19"/>
          <p:cNvSpPr txBox="1">
            <a:spLocks noGrp="1"/>
          </p:cNvSpPr>
          <p:nvPr>
            <p:ph type="subTitle" idx="7"/>
          </p:nvPr>
        </p:nvSpPr>
        <p:spPr>
          <a:xfrm>
            <a:off x="4563150" y="2828241"/>
            <a:ext cx="3481668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Verdana Pro Black" panose="020B0A04030504040204" pitchFamily="34" charset="0"/>
                <a:ea typeface="Verdana Pro Black" panose="020B0A04030504040204" pitchFamily="34" charset="0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58" name="Google Shape;158;p19"/>
          <p:cNvSpPr txBox="1">
            <a:spLocks noGrp="1"/>
          </p:cNvSpPr>
          <p:nvPr>
            <p:ph type="subTitle" idx="8"/>
          </p:nvPr>
        </p:nvSpPr>
        <p:spPr>
          <a:xfrm>
            <a:off x="4563151" y="3234328"/>
            <a:ext cx="3481668" cy="10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 and six columns">
  <p:cSld name="Title and six columns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  <p:sp>
        <p:nvSpPr>
          <p:cNvPr id="161" name="Google Shape;161;p20"/>
          <p:cNvSpPr txBox="1">
            <a:spLocks noGrp="1"/>
          </p:cNvSpPr>
          <p:nvPr>
            <p:ph type="subTitle" idx="1"/>
          </p:nvPr>
        </p:nvSpPr>
        <p:spPr>
          <a:xfrm>
            <a:off x="4765200" y="2169339"/>
            <a:ext cx="36588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Verdana Pro Black" panose="020B0A04030504040204" pitchFamily="34" charset="0"/>
                <a:ea typeface="Verdana Pro Black" panose="020B0A04030504040204" pitchFamily="34" charset="0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62" name="Google Shape;162;p20"/>
          <p:cNvSpPr txBox="1">
            <a:spLocks noGrp="1"/>
          </p:cNvSpPr>
          <p:nvPr>
            <p:ph type="subTitle" idx="2"/>
          </p:nvPr>
        </p:nvSpPr>
        <p:spPr>
          <a:xfrm>
            <a:off x="4765200" y="2589573"/>
            <a:ext cx="3658800" cy="6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3" name="Google Shape;163;p20"/>
          <p:cNvSpPr txBox="1">
            <a:spLocks noGrp="1"/>
          </p:cNvSpPr>
          <p:nvPr>
            <p:ph type="subTitle" idx="3"/>
          </p:nvPr>
        </p:nvSpPr>
        <p:spPr>
          <a:xfrm>
            <a:off x="4765200" y="1050764"/>
            <a:ext cx="36588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Verdana Pro Black" panose="020B0A04030504040204" pitchFamily="34" charset="0"/>
                <a:ea typeface="Verdana Pro Black" panose="020B0A04030504040204" pitchFamily="34" charset="0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64" name="Google Shape;164;p20"/>
          <p:cNvSpPr txBox="1">
            <a:spLocks noGrp="1"/>
          </p:cNvSpPr>
          <p:nvPr>
            <p:ph type="subTitle" idx="4"/>
          </p:nvPr>
        </p:nvSpPr>
        <p:spPr>
          <a:xfrm>
            <a:off x="4765200" y="1470999"/>
            <a:ext cx="3658800" cy="6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5" name="Google Shape;165;p20"/>
          <p:cNvSpPr txBox="1">
            <a:spLocks noGrp="1"/>
          </p:cNvSpPr>
          <p:nvPr>
            <p:ph type="subTitle" idx="5"/>
          </p:nvPr>
        </p:nvSpPr>
        <p:spPr>
          <a:xfrm>
            <a:off x="4765200" y="3287913"/>
            <a:ext cx="3658800" cy="53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Verdana Pro Black" panose="020B0A04030504040204" pitchFamily="34" charset="0"/>
                <a:ea typeface="Verdana Pro Black" panose="020B0A04030504040204" pitchFamily="34" charset="0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66" name="Google Shape;166;p20"/>
          <p:cNvSpPr txBox="1">
            <a:spLocks noGrp="1"/>
          </p:cNvSpPr>
          <p:nvPr>
            <p:ph type="subTitle" idx="6"/>
          </p:nvPr>
        </p:nvSpPr>
        <p:spPr>
          <a:xfrm>
            <a:off x="4765200" y="3708147"/>
            <a:ext cx="3658800" cy="5864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7" name="Google Shape;167;p20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erdana Pro Black" panose="020B0A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20"/>
          <p:cNvSpPr txBox="1">
            <a:spLocks noGrp="1"/>
          </p:cNvSpPr>
          <p:nvPr>
            <p:ph type="subTitle" idx="7"/>
          </p:nvPr>
        </p:nvSpPr>
        <p:spPr>
          <a:xfrm>
            <a:off x="722375" y="1050764"/>
            <a:ext cx="36588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Verdana Pro Black" panose="020B0A04030504040204" pitchFamily="34" charset="0"/>
                <a:ea typeface="Verdana Pro Black" panose="020B0A04030504040204" pitchFamily="34" charset="0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69" name="Google Shape;169;p20"/>
          <p:cNvSpPr txBox="1">
            <a:spLocks noGrp="1"/>
          </p:cNvSpPr>
          <p:nvPr>
            <p:ph type="subTitle" idx="8"/>
          </p:nvPr>
        </p:nvSpPr>
        <p:spPr>
          <a:xfrm>
            <a:off x="722375" y="1470999"/>
            <a:ext cx="3658800" cy="6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0" name="Google Shape;170;p20"/>
          <p:cNvSpPr txBox="1">
            <a:spLocks noGrp="1"/>
          </p:cNvSpPr>
          <p:nvPr>
            <p:ph type="subTitle" idx="9"/>
          </p:nvPr>
        </p:nvSpPr>
        <p:spPr>
          <a:xfrm>
            <a:off x="722375" y="2169339"/>
            <a:ext cx="36588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Verdana Pro Black" panose="020B0A04030504040204" pitchFamily="34" charset="0"/>
                <a:ea typeface="Verdana Pro Black" panose="020B0A04030504040204" pitchFamily="34" charset="0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71" name="Google Shape;171;p20"/>
          <p:cNvSpPr txBox="1">
            <a:spLocks noGrp="1"/>
          </p:cNvSpPr>
          <p:nvPr>
            <p:ph type="subTitle" idx="13"/>
          </p:nvPr>
        </p:nvSpPr>
        <p:spPr>
          <a:xfrm>
            <a:off x="722375" y="2589573"/>
            <a:ext cx="3658800" cy="6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2" name="Google Shape;172;p20"/>
          <p:cNvSpPr txBox="1">
            <a:spLocks noGrp="1"/>
          </p:cNvSpPr>
          <p:nvPr>
            <p:ph type="subTitle" idx="14"/>
          </p:nvPr>
        </p:nvSpPr>
        <p:spPr>
          <a:xfrm>
            <a:off x="722375" y="3287913"/>
            <a:ext cx="36588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Verdana Pro Black" panose="020B0A04030504040204" pitchFamily="34" charset="0"/>
                <a:ea typeface="Verdana Pro Black" panose="020B0A04030504040204" pitchFamily="34" charset="0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73" name="Google Shape;173;p20"/>
          <p:cNvSpPr txBox="1">
            <a:spLocks noGrp="1"/>
          </p:cNvSpPr>
          <p:nvPr>
            <p:ph type="subTitle" idx="15"/>
          </p:nvPr>
        </p:nvSpPr>
        <p:spPr>
          <a:xfrm>
            <a:off x="722375" y="3708147"/>
            <a:ext cx="3658800" cy="5864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74" name="Google Shape;174;p20"/>
          <p:cNvGrpSpPr/>
          <p:nvPr/>
        </p:nvGrpSpPr>
        <p:grpSpPr>
          <a:xfrm flipH="1">
            <a:off x="7869700" y="178555"/>
            <a:ext cx="1788147" cy="355500"/>
            <a:chOff x="229850" y="4608575"/>
            <a:chExt cx="1788147" cy="355500"/>
          </a:xfrm>
        </p:grpSpPr>
        <p:sp>
          <p:nvSpPr>
            <p:cNvPr id="175" name="Google Shape;175;p20"/>
            <p:cNvSpPr/>
            <p:nvPr/>
          </p:nvSpPr>
          <p:spPr>
            <a:xfrm>
              <a:off x="229850" y="4608575"/>
              <a:ext cx="1727700" cy="355500"/>
            </a:xfrm>
            <a:prstGeom prst="roundRect">
              <a:avLst>
                <a:gd name="adj" fmla="val 13038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76" name="Google Shape;176;p20"/>
            <p:cNvGrpSpPr/>
            <p:nvPr/>
          </p:nvGrpSpPr>
          <p:grpSpPr>
            <a:xfrm>
              <a:off x="1899502" y="4716312"/>
              <a:ext cx="118495" cy="119191"/>
              <a:chOff x="4512753" y="952912"/>
              <a:chExt cx="118495" cy="119191"/>
            </a:xfrm>
          </p:grpSpPr>
          <p:sp>
            <p:nvSpPr>
              <p:cNvPr id="177" name="Google Shape;177;p20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" name="Google Shape;178;p20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 only 1">
  <p:cSld name="Title only 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  <p:sp>
        <p:nvSpPr>
          <p:cNvPr id="180" name="Google Shape;180;p21"/>
          <p:cNvSpPr txBox="1">
            <a:spLocks noGrp="1"/>
          </p:cNvSpPr>
          <p:nvPr>
            <p:ph type="title"/>
          </p:nvPr>
        </p:nvSpPr>
        <p:spPr>
          <a:xfrm>
            <a:off x="1741375" y="521375"/>
            <a:ext cx="30603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Verdana Pro Black" panose="020B0A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 only 2">
  <p:cSld name="Title only 2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Verdana Pro Black" panose="020B0A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2"/>
          <p:cNvSpPr/>
          <p:nvPr/>
        </p:nvSpPr>
        <p:spPr>
          <a:xfrm>
            <a:off x="8656650" y="-288800"/>
            <a:ext cx="854400" cy="828300"/>
          </a:xfrm>
          <a:prstGeom prst="roundRect">
            <a:avLst>
              <a:gd name="adj" fmla="val 16923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hanks">
  <p:cSld name="1_Thanks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A black and grey pattern&#10;&#10;Yapay zeka tarafından oluşturulan içerik yanlış olabilir."/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Dikdörtgen 7"/>
          <p:cNvSpPr/>
          <p:nvPr userDrawn="1"/>
        </p:nvSpPr>
        <p:spPr>
          <a:xfrm>
            <a:off x="0" y="4343400"/>
            <a:ext cx="9144000" cy="80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57391" y="74055"/>
            <a:ext cx="548657" cy="400705"/>
          </a:xfrm>
          <a:prstGeom prst="rect">
            <a:avLst/>
          </a:prstGeom>
        </p:spPr>
      </p:pic>
      <p:cxnSp>
        <p:nvCxnSpPr>
          <p:cNvPr id="4" name="Straight Connector 12"/>
          <p:cNvCxnSpPr>
            <a:stCxn id="5" idx="3"/>
            <a:endCxn id="7" idx="1"/>
          </p:cNvCxnSpPr>
          <p:nvPr userDrawn="1"/>
        </p:nvCxnSpPr>
        <p:spPr>
          <a:xfrm flipV="1">
            <a:off x="2636906" y="4719051"/>
            <a:ext cx="4428666" cy="1"/>
          </a:xfrm>
          <a:prstGeom prst="line">
            <a:avLst/>
          </a:prstGeom>
          <a:ln w="28575">
            <a:solidFill>
              <a:srgbClr val="5ACBE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9"/>
          <p:cNvSpPr txBox="1"/>
          <p:nvPr userDrawn="1"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700">
                <a:solidFill>
                  <a:srgbClr val="7F7F7F"/>
                </a:solidFill>
              </a:rPr>
              <a:t>This project has received funding from the European Union’s Horizon Europe research and innovation programme under grant agreement No 101189908.</a:t>
            </a:r>
            <a:endParaRPr lang="nl-BE" sz="700">
              <a:solidFill>
                <a:srgbClr val="7F7F7F"/>
              </a:solidFill>
            </a:endParaRPr>
          </a:p>
        </p:txBody>
      </p:sp>
      <p:pic>
        <p:nvPicPr>
          <p:cNvPr id="6" name="Picture 10" descr="flag_yellow_high.jpg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</p:spPr>
      </p:pic>
      <p:sp>
        <p:nvSpPr>
          <p:cNvPr id="7" name="Metin kutusu 6"/>
          <p:cNvSpPr txBox="1"/>
          <p:nvPr userDrawn="1"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50">
                <a:solidFill>
                  <a:srgbClr val="070E49"/>
                </a:solidFill>
              </a:rPr>
              <a:t> www.ai4sweng.eu</a:t>
            </a:r>
            <a:endParaRPr lang="en-US" sz="1350">
              <a:solidFill>
                <a:srgbClr val="070E49"/>
              </a:solidFill>
            </a:endParaRPr>
          </a:p>
        </p:txBody>
      </p:sp>
      <p:grpSp>
        <p:nvGrpSpPr>
          <p:cNvPr id="192" name="Google Shape;192;p23"/>
          <p:cNvGrpSpPr/>
          <p:nvPr/>
        </p:nvGrpSpPr>
        <p:grpSpPr>
          <a:xfrm>
            <a:off x="373912" y="510714"/>
            <a:ext cx="8396407" cy="3908253"/>
            <a:chOff x="487350" y="566398"/>
            <a:chExt cx="8169300" cy="4010705"/>
          </a:xfrm>
        </p:grpSpPr>
        <p:sp>
          <p:nvSpPr>
            <p:cNvPr id="193" name="Google Shape;193;p23"/>
            <p:cNvSpPr/>
            <p:nvPr/>
          </p:nvSpPr>
          <p:spPr>
            <a:xfrm rot="10800000">
              <a:off x="487350" y="627965"/>
              <a:ext cx="8169300" cy="3884400"/>
            </a:xfrm>
            <a:prstGeom prst="roundRect">
              <a:avLst>
                <a:gd name="adj" fmla="val 6093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94" name="Google Shape;194;p23"/>
            <p:cNvGrpSpPr/>
            <p:nvPr/>
          </p:nvGrpSpPr>
          <p:grpSpPr>
            <a:xfrm rot="10800000">
              <a:off x="4478151" y="4457913"/>
              <a:ext cx="118496" cy="119189"/>
              <a:chOff x="6916887" y="844381"/>
              <a:chExt cx="102870" cy="103481"/>
            </a:xfrm>
          </p:grpSpPr>
          <p:sp>
            <p:nvSpPr>
              <p:cNvPr id="195" name="Google Shape;195;p23"/>
              <p:cNvSpPr/>
              <p:nvPr/>
            </p:nvSpPr>
            <p:spPr>
              <a:xfrm>
                <a:off x="6940943" y="868436"/>
                <a:ext cx="54757" cy="5537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6" name="Google Shape;196;p23"/>
              <p:cNvSpPr/>
              <p:nvPr/>
            </p:nvSpPr>
            <p:spPr>
              <a:xfrm>
                <a:off x="6916887" y="844381"/>
                <a:ext cx="102870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97" name="Google Shape;197;p23"/>
            <p:cNvGrpSpPr/>
            <p:nvPr/>
          </p:nvGrpSpPr>
          <p:grpSpPr>
            <a:xfrm rot="10800000">
              <a:off x="6888914" y="566398"/>
              <a:ext cx="118496" cy="119189"/>
              <a:chOff x="6620258" y="1050444"/>
              <a:chExt cx="102870" cy="103481"/>
            </a:xfrm>
          </p:grpSpPr>
          <p:sp>
            <p:nvSpPr>
              <p:cNvPr id="198" name="Google Shape;198;p23"/>
              <p:cNvSpPr/>
              <p:nvPr/>
            </p:nvSpPr>
            <p:spPr>
              <a:xfrm>
                <a:off x="6644314" y="1074499"/>
                <a:ext cx="54757" cy="5537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9" name="Google Shape;199;p23"/>
              <p:cNvSpPr/>
              <p:nvPr/>
            </p:nvSpPr>
            <p:spPr>
              <a:xfrm>
                <a:off x="6620258" y="1050444"/>
                <a:ext cx="102870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00" name="Google Shape;200;p23"/>
          <p:cNvSpPr txBox="1">
            <a:spLocks noGrp="1"/>
          </p:cNvSpPr>
          <p:nvPr>
            <p:ph type="title"/>
          </p:nvPr>
        </p:nvSpPr>
        <p:spPr>
          <a:xfrm>
            <a:off x="4760975" y="1587088"/>
            <a:ext cx="3555900" cy="9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latin typeface="Verdana Pro Black" panose="020B0A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" name="Google Shape;201;p23"/>
          <p:cNvSpPr txBox="1">
            <a:spLocks noGrp="1"/>
          </p:cNvSpPr>
          <p:nvPr>
            <p:ph type="subTitle" idx="1"/>
          </p:nvPr>
        </p:nvSpPr>
        <p:spPr>
          <a:xfrm>
            <a:off x="4760975" y="2569737"/>
            <a:ext cx="35559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07809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defRPr>
            </a:lvl1pPr>
            <a:lvl2pPr>
              <a:defRPr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defRPr>
            </a:lvl2pPr>
            <a:lvl3pPr>
              <a:defRPr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defRPr>
            </a:lvl3pPr>
            <a:lvl4pPr>
              <a:defRPr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defRPr>
            </a:lvl4pPr>
            <a:lvl5pPr>
              <a:defRPr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0"/>
            <a:ext cx="9144000" cy="677119"/>
          </a:xfrm>
          <a:prstGeom prst="rect">
            <a:avLst/>
          </a:prstGeom>
          <a:solidFill>
            <a:srgbClr val="8238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222557" y="45270"/>
            <a:ext cx="7772400" cy="517128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bg1"/>
                </a:solidFill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05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" name="Slide Number Placeholder 5"/>
          <p:cNvSpPr txBox="1"/>
          <p:nvPr userDrawn="1"/>
        </p:nvSpPr>
        <p:spPr>
          <a:xfrm>
            <a:off x="6997554" y="480471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9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fld id="{48F63A3B-78C7-47BE-AE5E-E10140E04643}" type="slidenum">
              <a:rPr lang="en-US" smtClean="0"/>
            </a:fld>
            <a:endParaRPr lang="en-US"/>
          </a:p>
        </p:txBody>
      </p:sp>
      <p:cxnSp>
        <p:nvCxnSpPr>
          <p:cNvPr id="10" name="Düz Bağlayıcı 9"/>
          <p:cNvCxnSpPr/>
          <p:nvPr userDrawn="1"/>
        </p:nvCxnSpPr>
        <p:spPr>
          <a:xfrm flipV="1">
            <a:off x="6216019" y="3555207"/>
            <a:ext cx="3528958" cy="1506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Verdana Pro Black" panose="020B0A04030504040204" pitchFamily="34" charset="0"/>
          <a:ea typeface="Verdana Pro Black" panose="020B0A04030504040204" pitchFamily="34" charset="0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8" Type="http://schemas.openxmlformats.org/officeDocument/2006/relationships/notesSlide" Target="../notesSlides/notesSlide16.xml"/><Relationship Id="rId17" Type="http://schemas.openxmlformats.org/officeDocument/2006/relationships/slideLayout" Target="../slideLayouts/slideLayout4.xml"/><Relationship Id="rId16" Type="http://schemas.openxmlformats.org/officeDocument/2006/relationships/image" Target="../media/image24.png"/><Relationship Id="rId15" Type="http://schemas.openxmlformats.org/officeDocument/2006/relationships/image" Target="../media/image23.png"/><Relationship Id="rId14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>
            <a:spLocks noGrp="1"/>
          </p:cNvSpPr>
          <p:nvPr>
            <p:ph type="subTitle" idx="1"/>
          </p:nvPr>
        </p:nvSpPr>
        <p:spPr>
          <a:xfrm>
            <a:off x="4422964" y="3319005"/>
            <a:ext cx="4274011" cy="1228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800" b="1" dirty="0"/>
              <a:t>Andrei </a:t>
            </a:r>
            <a:r>
              <a:rPr lang="en-US" sz="1800" b="1" dirty="0" err="1"/>
              <a:t>Aksjonov</a:t>
            </a:r>
            <a:r>
              <a:rPr lang="en-US" sz="1800" b="1" dirty="0"/>
              <a:t>, PhD</a:t>
            </a:r>
            <a:r>
              <a:rPr lang="tr-TR" sz="1800" b="1" dirty="0"/>
              <a:t> </a:t>
            </a:r>
            <a:endParaRPr lang="tr-TR" sz="1800" b="1" dirty="0"/>
          </a:p>
          <a:p>
            <a:pPr marL="0" indent="0">
              <a:buNone/>
            </a:pPr>
            <a:r>
              <a:rPr lang="tr-TR" sz="1800" b="1"/>
              <a:t>Muhammed Enis Şen</a:t>
            </a:r>
            <a:br>
              <a:rPr lang="tr-TR" sz="1800" b="1" dirty="0"/>
            </a:br>
            <a:r>
              <a:rPr lang="tr-TR" sz="1800" b="1" dirty="0"/>
              <a:t>AI4SEC</a:t>
            </a:r>
            <a:r>
              <a:rPr lang="en-US" sz="1800" b="1" dirty="0"/>
              <a:t> </a:t>
            </a:r>
            <a:endParaRPr lang="tr-TR" sz="1800" b="1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b="1" dirty="0"/>
              <a:t>17.02.2026</a:t>
            </a:r>
            <a:endParaRPr sz="1800" b="1" dirty="0"/>
          </a:p>
        </p:txBody>
      </p:sp>
      <p:sp>
        <p:nvSpPr>
          <p:cNvPr id="226" name="Google Shape;226;p29"/>
          <p:cNvSpPr txBox="1">
            <a:spLocks noGrp="1"/>
          </p:cNvSpPr>
          <p:nvPr>
            <p:ph type="title"/>
          </p:nvPr>
        </p:nvSpPr>
        <p:spPr>
          <a:xfrm>
            <a:off x="1190693" y="2806180"/>
            <a:ext cx="7506281" cy="5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>
                <a:latin typeface="Verdana Pro Black" panose="020B0A04030504040204"/>
              </a:rPr>
              <a:t>On KIO Interfaces</a:t>
            </a:r>
            <a:endParaRPr lang="en-US"/>
          </a:p>
        </p:txBody>
      </p:sp>
      <p:pic>
        <p:nvPicPr>
          <p:cNvPr id="10" name="Resim 9" descr="A blue letter on a black background&#10;&#10;Yapay zeka tarafından oluşturulan içerik yanlış olabilir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6149" y="1246701"/>
            <a:ext cx="3780826" cy="5166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387600"/>
            <a:ext cx="7437917" cy="592200"/>
          </a:xfrm>
        </p:spPr>
        <p:txBody>
          <a:bodyPr/>
          <a:lstStyle/>
          <a:p>
            <a:r>
              <a:rPr lang="en-US">
                <a:latin typeface="Verdana Pro Black" panose="020B0A04030504040204"/>
              </a:rPr>
              <a:t>AGENDA</a:t>
            </a:r>
            <a:endParaRPr lang="en-US" err="1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Design Principles</a:t>
            </a:r>
            <a:endParaRPr lang="en-US" sz="1800" dirty="0"/>
          </a:p>
          <a:p>
            <a:endParaRPr lang="en-US" sz="1800" dirty="0"/>
          </a:p>
          <a:p>
            <a:r>
              <a:rPr lang="en-US" sz="1800"/>
              <a:t>API Concept</a:t>
            </a:r>
            <a:endParaRPr lang="en-US" sz="1800" dirty="0"/>
          </a:p>
          <a:p>
            <a:endParaRPr lang="en-US" sz="1800" dirty="0"/>
          </a:p>
          <a:p>
            <a:r>
              <a:rPr lang="en-US" sz="1800"/>
              <a:t>Orchestrator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8"/>
          <p:cNvSpPr txBox="1">
            <a:spLocks noGrp="1"/>
          </p:cNvSpPr>
          <p:nvPr>
            <p:ph type="title"/>
          </p:nvPr>
        </p:nvSpPr>
        <p:spPr>
          <a:xfrm>
            <a:off x="4760975" y="2081775"/>
            <a:ext cx="3850309" cy="9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3000" dirty="0">
                <a:latin typeface="Verdana Pro Black" panose="020B0A04030504040204"/>
              </a:rPr>
              <a:t>Design </a:t>
            </a:r>
            <a:r>
              <a:rPr lang="en-GB" sz="3000">
                <a:latin typeface="Verdana Pro Black" panose="020B0A04030504040204"/>
              </a:rPr>
              <a:t>Principles</a:t>
            </a:r>
            <a:endParaRPr lang="en-GB" sz="3000" dirty="0"/>
          </a:p>
        </p:txBody>
      </p:sp>
      <p:pic>
        <p:nvPicPr>
          <p:cNvPr id="5" name="Resim 4" descr="A blue logo with a black background&#10;&#10;Yapay zeka tarafından oluşturulan içerik yanlış olabilir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627" y="1093156"/>
            <a:ext cx="2920851" cy="25599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387600"/>
            <a:ext cx="7437917" cy="592200"/>
          </a:xfrm>
        </p:spPr>
        <p:txBody>
          <a:bodyPr/>
          <a:lstStyle/>
          <a:p>
            <a:r>
              <a:rPr lang="en-US">
                <a:latin typeface="Verdana Pro Black" panose="020B0A04030504040204"/>
              </a:rPr>
              <a:t>Design Principles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124277" y="942271"/>
            <a:ext cx="3367910" cy="2734445"/>
          </a:xfrm>
        </p:spPr>
        <p:txBody>
          <a:bodyPr/>
          <a:lstStyle/>
          <a:p>
            <a:pPr marL="127000" indent="0">
              <a:buNone/>
            </a:pPr>
            <a:r>
              <a:rPr lang="en-US" sz="1400" b="1"/>
              <a:t>The system must support:</a:t>
            </a:r>
            <a:endParaRPr lang="en-US" sz="1400" b="1" dirty="0"/>
          </a:p>
          <a:p>
            <a:endParaRPr lang="en-US" sz="1400" dirty="0"/>
          </a:p>
          <a:p>
            <a:r>
              <a:rPr lang="en-US" sz="1400"/>
              <a:t>Deterministic replay</a:t>
            </a:r>
            <a:endParaRPr lang="en-US"/>
          </a:p>
          <a:p>
            <a:endParaRPr lang="en-US"/>
          </a:p>
          <a:p>
            <a:r>
              <a:rPr lang="en-US" sz="1400"/>
              <a:t>Full artifact lineage</a:t>
            </a:r>
            <a:endParaRPr lang="en-US"/>
          </a:p>
          <a:p>
            <a:endParaRPr lang="en-US"/>
          </a:p>
          <a:p>
            <a:r>
              <a:rPr lang="en-US" sz="1400"/>
              <a:t>Distributed execution</a:t>
            </a:r>
            <a:endParaRPr lang="en-US"/>
          </a:p>
          <a:p>
            <a:endParaRPr lang="en-US"/>
          </a:p>
          <a:p>
            <a:r>
              <a:rPr lang="en-US" sz="1400"/>
              <a:t>Partial failure recovery</a:t>
            </a:r>
            <a:endParaRPr lang="en-US"/>
          </a:p>
          <a:p>
            <a:endParaRPr lang="en-US"/>
          </a:p>
          <a:p>
            <a:r>
              <a:rPr lang="en-US" sz="1400"/>
              <a:t>Dynamic scaling</a:t>
            </a:r>
            <a:endParaRPr lang="en-US"/>
          </a:p>
          <a:p>
            <a:endParaRPr lang="en-US" sz="1400" dirty="0"/>
          </a:p>
          <a:p>
            <a:r>
              <a:rPr lang="en-US" sz="1400"/>
              <a:t>Observability</a:t>
            </a:r>
            <a:endParaRPr lang="en-US"/>
          </a:p>
          <a:p>
            <a:pPr marL="127000" indent="0">
              <a:buNone/>
            </a:pPr>
            <a:endParaRPr lang="en-US" sz="1400"/>
          </a:p>
        </p:txBody>
      </p:sp>
      <p:sp>
        <p:nvSpPr>
          <p:cNvPr id="6" name="Text Placeholder 4"/>
          <p:cNvSpPr txBox="1"/>
          <p:nvPr/>
        </p:nvSpPr>
        <p:spPr>
          <a:xfrm>
            <a:off x="599074" y="982856"/>
            <a:ext cx="3367910" cy="2734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27000" indent="0">
              <a:buFont typeface="DM Sans"/>
              <a:buNone/>
            </a:pPr>
            <a:r>
              <a:rPr lang="en-US" sz="1400" b="1"/>
              <a:t>The system emphasizes:</a:t>
            </a:r>
            <a:endParaRPr lang="en-US" sz="1400" b="1" dirty="0"/>
          </a:p>
          <a:p>
            <a:endParaRPr lang="en-US" sz="1400" dirty="0"/>
          </a:p>
          <a:p>
            <a:r>
              <a:rPr lang="en-US" sz="1400"/>
              <a:t>Agentic AI</a:t>
            </a:r>
            <a:endParaRPr lang="en-US"/>
          </a:p>
          <a:p>
            <a:endParaRPr lang="en-US"/>
          </a:p>
          <a:p>
            <a:r>
              <a:rPr lang="en-US" sz="1400"/>
              <a:t>DevOps lifecycle</a:t>
            </a:r>
            <a:endParaRPr lang="en-US"/>
          </a:p>
          <a:p>
            <a:endParaRPr lang="en-US"/>
          </a:p>
          <a:p>
            <a:r>
              <a:rPr lang="en-US" sz="1400"/>
              <a:t>Traceability</a:t>
            </a:r>
            <a:endParaRPr lang="en-US"/>
          </a:p>
          <a:p>
            <a:endParaRPr lang="en-US"/>
          </a:p>
          <a:p>
            <a:r>
              <a:rPr lang="en-US" sz="1400"/>
              <a:t>Modular containerization</a:t>
            </a:r>
            <a:endParaRPr lang="en-US"/>
          </a:p>
          <a:p>
            <a:pPr marL="127000" indent="0">
              <a:buFont typeface="DM Sans"/>
              <a:buNone/>
            </a:pPr>
            <a:endParaRPr lang="en-US" sz="1400"/>
          </a:p>
        </p:txBody>
      </p:sp>
      <p:pic>
        <p:nvPicPr>
          <p:cNvPr id="2" name="Graphic 1" descr="Arrow: Straight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978137" y="211455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387600"/>
            <a:ext cx="7437917" cy="592200"/>
          </a:xfrm>
        </p:spPr>
        <p:txBody>
          <a:bodyPr/>
          <a:lstStyle/>
          <a:p>
            <a:r>
              <a:rPr lang="en-US">
                <a:latin typeface="Verdana Pro Black" panose="020B0A04030504040204"/>
              </a:rPr>
              <a:t>Interface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20000" y="979544"/>
            <a:ext cx="2909466" cy="3355018"/>
          </a:xfrm>
        </p:spPr>
        <p:txBody>
          <a:bodyPr/>
          <a:lstStyle/>
          <a:p>
            <a:pPr>
              <a:buFont typeface="Arial" panose="020B0604020202090204"/>
              <a:buChar char="•"/>
            </a:pPr>
            <a:r>
              <a:rPr lang="en-US" sz="1400" dirty="0"/>
              <a:t>Clear decoupling</a:t>
            </a:r>
            <a:endParaRPr lang="en-US" sz="1400" dirty="0"/>
          </a:p>
          <a:p>
            <a:pPr>
              <a:buFont typeface="Arial" panose="020B0604020202090204"/>
              <a:buChar char="•"/>
            </a:pPr>
            <a:r>
              <a:rPr lang="en-US" sz="1400" dirty="0"/>
              <a:t>Container-friendly</a:t>
            </a:r>
            <a:endParaRPr lang="en-US" sz="1400" dirty="0"/>
          </a:p>
          <a:p>
            <a:pPr>
              <a:buFont typeface="Arial" panose="020B0604020202090204"/>
              <a:buChar char="•"/>
            </a:pPr>
            <a:r>
              <a:rPr lang="en-US" sz="1400" dirty="0"/>
              <a:t>Pub/sub scalability</a:t>
            </a:r>
            <a:endParaRPr lang="en-US" sz="1400" dirty="0"/>
          </a:p>
          <a:p>
            <a:pPr>
              <a:buFont typeface="Arial" panose="020B0604020202090204"/>
              <a:buChar char="•"/>
            </a:pPr>
            <a:r>
              <a:rPr lang="en-US" sz="1400" dirty="0"/>
              <a:t>Structured JSON communication</a:t>
            </a:r>
            <a:endParaRPr lang="en-US" sz="1400" dirty="0"/>
          </a:p>
          <a:p>
            <a:pPr>
              <a:buFont typeface="Arial" panose="020B0604020202090204"/>
              <a:buChar char="•"/>
            </a:pPr>
            <a:r>
              <a:rPr lang="en-US" sz="1400" dirty="0"/>
              <a:t>Allows routing</a:t>
            </a:r>
            <a:endParaRPr lang="en-US" sz="1400" dirty="0"/>
          </a:p>
          <a:p>
            <a:pPr>
              <a:buFont typeface="Arial" panose="020B0604020202090204"/>
              <a:buChar char="•"/>
            </a:pPr>
            <a:r>
              <a:rPr lang="en-US" sz="1400" dirty="0"/>
              <a:t>Enables:</a:t>
            </a:r>
            <a:endParaRPr lang="en-US" sz="1400" dirty="0"/>
          </a:p>
          <a:p>
            <a:pPr lvl="1">
              <a:spcBef>
                <a:spcPts val="100"/>
              </a:spcBef>
              <a:buFont typeface="Courier New" panose="02070409020205090404"/>
              <a:buChar char="o"/>
            </a:pPr>
            <a:r>
              <a:rPr lang="en-US" sz="1400" dirty="0"/>
              <a:t>Traceability</a:t>
            </a:r>
            <a:endParaRPr lang="en-US" sz="1400"/>
          </a:p>
          <a:p>
            <a:pPr lvl="1">
              <a:spcBef>
                <a:spcPts val="100"/>
              </a:spcBef>
              <a:buFont typeface="Courier New" panose="02070409020205090404"/>
              <a:buChar char="o"/>
            </a:pPr>
            <a:r>
              <a:rPr lang="en-US" sz="1400" dirty="0"/>
              <a:t>Versioning</a:t>
            </a:r>
            <a:endParaRPr lang="en-US" sz="1400"/>
          </a:p>
          <a:p>
            <a:pPr lvl="1">
              <a:spcBef>
                <a:spcPts val="100"/>
              </a:spcBef>
              <a:buFont typeface="Courier New" panose="02070409020205090404"/>
              <a:buChar char="o"/>
            </a:pPr>
            <a:r>
              <a:rPr lang="en-US" sz="1400" dirty="0"/>
              <a:t>Replay</a:t>
            </a:r>
            <a:endParaRPr lang="en-US" sz="1400"/>
          </a:p>
          <a:p>
            <a:pPr lvl="1">
              <a:spcBef>
                <a:spcPts val="100"/>
              </a:spcBef>
              <a:buFont typeface="Courier New" panose="02070409020205090404"/>
              <a:buChar char="o"/>
            </a:pPr>
            <a:r>
              <a:rPr lang="en-US" sz="1400" dirty="0"/>
              <a:t>auditing</a:t>
            </a:r>
            <a:endParaRPr lang="en-US" sz="1400"/>
          </a:p>
          <a:p>
            <a:pPr>
              <a:buFont typeface="Arial" panose="020B0604020202090204"/>
              <a:buChar char="•"/>
            </a:pPr>
            <a:r>
              <a:rPr lang="en-US" sz="1400" dirty="0"/>
              <a:t>Dynamic routing</a:t>
            </a:r>
            <a:endParaRPr lang="en-US" sz="1400" dirty="0"/>
          </a:p>
          <a:p>
            <a:pPr>
              <a:buFont typeface="Arial" panose="020B0604020202090204"/>
              <a:buChar char="•"/>
            </a:pPr>
            <a:r>
              <a:rPr lang="en-US" sz="1400" dirty="0"/>
              <a:t>Capability matching</a:t>
            </a:r>
            <a:endParaRPr lang="en-US" sz="1400" dirty="0"/>
          </a:p>
          <a:p>
            <a:pPr>
              <a:buFont typeface="Arial" panose="020B0604020202090204"/>
              <a:buChar char="•"/>
            </a:pPr>
            <a:r>
              <a:rPr lang="en-US" sz="1400" dirty="0"/>
              <a:t>Agent replacement</a:t>
            </a:r>
            <a:endParaRPr lang="en-US" sz="1400" dirty="0"/>
          </a:p>
          <a:p>
            <a:pPr marL="127000" indent="0">
              <a:buNone/>
            </a:pPr>
            <a:endParaRPr lang="en-US" sz="1400"/>
          </a:p>
        </p:txBody>
      </p:sp>
      <p:pic>
        <p:nvPicPr>
          <p:cNvPr id="2" name="Picture 1" descr="A diagram of a software system&#10;&#10;AI-generated content may be incorrect."/>
          <p:cNvPicPr>
            <a:picLocks noChangeAspect="1"/>
          </p:cNvPicPr>
          <p:nvPr/>
        </p:nvPicPr>
        <p:blipFill>
          <a:blip r:embed="rId1"/>
          <a:srcRect l="1305" t="1965" r="3003" b="1821"/>
          <a:stretch>
            <a:fillRect/>
          </a:stretch>
        </p:blipFill>
        <p:spPr>
          <a:xfrm>
            <a:off x="3443288" y="723899"/>
            <a:ext cx="5336387" cy="36151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8"/>
          <p:cNvSpPr txBox="1">
            <a:spLocks noGrp="1"/>
          </p:cNvSpPr>
          <p:nvPr>
            <p:ph type="title"/>
          </p:nvPr>
        </p:nvSpPr>
        <p:spPr>
          <a:xfrm>
            <a:off x="4760975" y="2081775"/>
            <a:ext cx="3850309" cy="9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3000">
                <a:latin typeface="Verdana Pro Black" panose="020B0A04030504040204"/>
              </a:rPr>
              <a:t>API Concept</a:t>
            </a:r>
            <a:endParaRPr lang="en-GB" sz="3000" dirty="0"/>
          </a:p>
        </p:txBody>
      </p:sp>
      <p:pic>
        <p:nvPicPr>
          <p:cNvPr id="5" name="Resim 4" descr="A blue logo with a black background&#10;&#10;Yapay zeka tarafından oluşturulan içerik yanlış olabilir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627" y="1093156"/>
            <a:ext cx="2920851" cy="25599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387600"/>
            <a:ext cx="7437917" cy="592200"/>
          </a:xfrm>
        </p:spPr>
        <p:txBody>
          <a:bodyPr/>
          <a:lstStyle/>
          <a:p>
            <a:r>
              <a:rPr lang="en-US" dirty="0">
                <a:latin typeface="Verdana Pro Black" panose="020B0A04030504040204"/>
              </a:rPr>
              <a:t>Unified Message Envelope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20000" y="985755"/>
            <a:ext cx="7399469" cy="3386700"/>
          </a:xfrm>
          <a:solidFill>
            <a:schemeClr val="bg2">
              <a:lumMod val="10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{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 dirty="0">
                <a:solidFill>
                  <a:srgbClr val="C00000"/>
                </a:solidFill>
              </a:rPr>
              <a:t>"header"</a:t>
            </a:r>
            <a:r>
              <a:rPr lang="en-US" sz="1400" dirty="0">
                <a:solidFill>
                  <a:schemeClr val="bg1"/>
                </a:solidFill>
              </a:rPr>
              <a:t>: {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err="1">
                <a:solidFill>
                  <a:srgbClr val="C00000"/>
                </a:solidFill>
              </a:rPr>
              <a:t>message_id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rgbClr val="00B050"/>
                </a:solidFill>
              </a:rPr>
              <a:t>"</a:t>
            </a:r>
            <a:r>
              <a:rPr lang="en-US" sz="1400" err="1">
                <a:solidFill>
                  <a:srgbClr val="00B050"/>
                </a:solidFill>
              </a:rPr>
              <a:t>uuid</a:t>
            </a:r>
            <a:r>
              <a:rPr lang="en-US" sz="1400" dirty="0">
                <a:solidFill>
                  <a:srgbClr val="00B05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err="1">
                <a:solidFill>
                  <a:srgbClr val="C00000"/>
                </a:solidFill>
              </a:rPr>
              <a:t>correlation_id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rgbClr val="00B050"/>
                </a:solidFill>
              </a:rPr>
              <a:t>"</a:t>
            </a:r>
            <a:r>
              <a:rPr lang="en-US" sz="1400" err="1">
                <a:solidFill>
                  <a:srgbClr val="00B050"/>
                </a:solidFill>
              </a:rPr>
              <a:t>uuid</a:t>
            </a:r>
            <a:r>
              <a:rPr lang="en-US" sz="1400" dirty="0">
                <a:solidFill>
                  <a:srgbClr val="00B05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</a:t>
            </a:r>
            <a:r>
              <a:rPr lang="en-US" sz="1400" dirty="0">
                <a:solidFill>
                  <a:srgbClr val="C00000"/>
                </a:solidFill>
              </a:rPr>
              <a:t> "timestamp"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rgbClr val="00B050"/>
                </a:solidFill>
              </a:rPr>
              <a:t>"ISO8601"</a:t>
            </a:r>
            <a:r>
              <a:rPr lang="en-US" sz="1400" dirty="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 dirty="0">
                <a:solidFill>
                  <a:srgbClr val="C00000"/>
                </a:solidFill>
              </a:rPr>
              <a:t>"sender"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rgbClr val="00B050"/>
                </a:solidFill>
              </a:rPr>
              <a:t>"orchestrator"</a:t>
            </a:r>
            <a:r>
              <a:rPr lang="en-US" sz="1400" dirty="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err="1">
                <a:solidFill>
                  <a:srgbClr val="C00000"/>
                </a:solidFill>
              </a:rPr>
              <a:t>target_agent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rgbClr val="00B050"/>
                </a:solidFill>
              </a:rPr>
              <a:t>"</a:t>
            </a:r>
            <a:r>
              <a:rPr lang="en-US" sz="1400" err="1">
                <a:solidFill>
                  <a:srgbClr val="00B050"/>
                </a:solidFill>
              </a:rPr>
              <a:t>dataset_generator</a:t>
            </a:r>
            <a:r>
              <a:rPr lang="en-US" sz="1400" dirty="0">
                <a:solidFill>
                  <a:srgbClr val="00B05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err="1">
                <a:solidFill>
                  <a:srgbClr val="C00000"/>
                </a:solidFill>
              </a:rPr>
              <a:t>message_type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rgbClr val="00B050"/>
                </a:solidFill>
              </a:rPr>
              <a:t>"TASK_REQUEST"</a:t>
            </a:r>
            <a:r>
              <a:rPr lang="en-US" sz="1400" dirty="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err="1">
                <a:solidFill>
                  <a:srgbClr val="C00000"/>
                </a:solidFill>
              </a:rPr>
              <a:t>protocol_version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rgbClr val="00B050"/>
                </a:solidFill>
              </a:rPr>
              <a:t>"1.0.0"</a:t>
            </a:r>
            <a:r>
              <a:rPr lang="en-US" sz="1400" dirty="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err="1">
                <a:solidFill>
                  <a:srgbClr val="C00000"/>
                </a:solidFill>
              </a:rPr>
              <a:t>project_id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rgbClr val="00B050"/>
                </a:solidFill>
              </a:rPr>
              <a:t>"project_42"</a:t>
            </a:r>
            <a:r>
              <a:rPr lang="en-US" sz="1400" dirty="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</a:t>
            </a:r>
            <a:r>
              <a:rPr lang="en-US" sz="1400" dirty="0">
                <a:solidFill>
                  <a:srgbClr val="C00000"/>
                </a:solidFill>
              </a:rPr>
              <a:t> "</a:t>
            </a:r>
            <a:r>
              <a:rPr lang="en-US" sz="1400" err="1">
                <a:solidFill>
                  <a:srgbClr val="C00000"/>
                </a:solidFill>
              </a:rPr>
              <a:t>workflow_id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rgbClr val="00B050"/>
                </a:solidFill>
              </a:rPr>
              <a:t>"wf_001"</a:t>
            </a:r>
            <a:r>
              <a:rPr lang="en-US" sz="1400" dirty="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err="1">
                <a:solidFill>
                  <a:srgbClr val="C00000"/>
                </a:solidFill>
              </a:rPr>
              <a:t>step_id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rgbClr val="00B050"/>
                </a:solidFill>
              </a:rPr>
              <a:t>"step_003"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},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 dirty="0">
                <a:solidFill>
                  <a:srgbClr val="C00000"/>
                </a:solidFill>
              </a:rPr>
              <a:t>"body"</a:t>
            </a:r>
            <a:r>
              <a:rPr lang="en-US" sz="1400" dirty="0">
                <a:solidFill>
                  <a:schemeClr val="bg1"/>
                </a:solidFill>
              </a:rPr>
              <a:t>: {}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}</a:t>
            </a:r>
            <a:endParaRPr lang="en-US">
              <a:solidFill>
                <a:schemeClr val="bg1"/>
              </a:solidFill>
            </a:endParaRPr>
          </a:p>
          <a:p>
            <a:pPr marL="127000" indent="0">
              <a:buFont typeface="Arial" panose="020B0604020202090204"/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127000" indent="0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387600"/>
            <a:ext cx="7437917" cy="592200"/>
          </a:xfrm>
        </p:spPr>
        <p:txBody>
          <a:bodyPr/>
          <a:lstStyle/>
          <a:p>
            <a:r>
              <a:rPr lang="en-US">
                <a:latin typeface="Verdana Pro Black" panose="020B0A04030504040204"/>
              </a:rPr>
              <a:t>Task Request Body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20000" y="985755"/>
            <a:ext cx="3852442" cy="3386700"/>
          </a:xfrm>
          <a:solidFill>
            <a:schemeClr val="bg2">
              <a:lumMod val="10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</a:t>
            </a:r>
            <a:r>
              <a:rPr lang="en-US" sz="1400">
                <a:solidFill>
                  <a:srgbClr val="C00000"/>
                </a:solidFill>
              </a:rPr>
              <a:t> "task"</a:t>
            </a:r>
            <a:r>
              <a:rPr lang="en-US" sz="1400">
                <a:solidFill>
                  <a:schemeClr val="bg1"/>
                </a:solidFill>
              </a:rPr>
              <a:t>: 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err="1">
                <a:solidFill>
                  <a:srgbClr val="C00000"/>
                </a:solidFill>
              </a:rPr>
              <a:t>task_id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rgbClr val="00B050"/>
                </a:solidFill>
              </a:rPr>
              <a:t>"task_789"</a:t>
            </a:r>
            <a:r>
              <a:rPr lang="en-US" sz="1400" dirty="0">
                <a:solidFill>
                  <a:schemeClr val="bg1"/>
                </a:solidFill>
              </a:rPr>
              <a:t>,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err="1">
                <a:solidFill>
                  <a:srgbClr val="C00000"/>
                </a:solidFill>
              </a:rPr>
              <a:t>task_type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rgbClr val="00B050"/>
                </a:solidFill>
              </a:rPr>
              <a:t>"</a:t>
            </a:r>
            <a:r>
              <a:rPr lang="en-US" sz="1400" err="1">
                <a:solidFill>
                  <a:srgbClr val="00B050"/>
                </a:solidFill>
              </a:rPr>
              <a:t>generate_dataset</a:t>
            </a:r>
            <a:r>
              <a:rPr lang="en-US" sz="1400" dirty="0">
                <a:solidFill>
                  <a:srgbClr val="00B05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,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 dirty="0">
                <a:solidFill>
                  <a:srgbClr val="C00000"/>
                </a:solidFill>
              </a:rPr>
              <a:t>"priority"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rgbClr val="00B050"/>
                </a:solidFill>
              </a:rPr>
              <a:t>"NORMAL"</a:t>
            </a:r>
            <a:r>
              <a:rPr lang="en-US" sz="1400" dirty="0">
                <a:solidFill>
                  <a:schemeClr val="bg1"/>
                </a:solidFill>
              </a:rPr>
              <a:t>,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err="1">
                <a:solidFill>
                  <a:srgbClr val="C00000"/>
                </a:solidFill>
              </a:rPr>
              <a:t>retry_policy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: {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 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err="1">
                <a:solidFill>
                  <a:srgbClr val="C00000"/>
                </a:solidFill>
              </a:rPr>
              <a:t>max_retries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chemeClr val="accent2">
                    <a:lumMod val="76000"/>
                  </a:schemeClr>
                </a:solidFill>
              </a:rPr>
              <a:t>3</a:t>
            </a:r>
            <a:r>
              <a:rPr lang="en-US" sz="1400" dirty="0">
                <a:solidFill>
                  <a:schemeClr val="bg1"/>
                </a:solidFill>
              </a:rPr>
              <a:t>,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 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err="1">
                <a:solidFill>
                  <a:srgbClr val="C00000"/>
                </a:solidFill>
              </a:rPr>
              <a:t>backoff_strategy</a:t>
            </a:r>
            <a:r>
              <a:rPr lang="en-US" sz="1400" dirty="0">
                <a:solidFill>
                  <a:srgbClr val="C00000"/>
                </a:solidFill>
              </a:rPr>
              <a:t>"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rgbClr val="00B050"/>
                </a:solidFill>
              </a:rPr>
              <a:t>"exponential"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},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"timeout_seconds"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chemeClr val="accent2">
                    <a:lumMod val="76000"/>
                  </a:schemeClr>
                </a:solidFill>
              </a:rPr>
              <a:t>600</a:t>
            </a:r>
            <a:endParaRPr lang="en-US">
              <a:solidFill>
                <a:schemeClr val="accent2">
                  <a:lumMod val="76000"/>
                </a:schemeClr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 },</a:t>
            </a:r>
            <a:endParaRPr lang="en-US"/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"parameters"</a:t>
            </a:r>
            <a:r>
              <a:rPr lang="en-US" sz="1400">
                <a:solidFill>
                  <a:schemeClr val="bg1"/>
                </a:solidFill>
              </a:rPr>
              <a:t>: 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"dataset_name"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"vehicle_dataset_v1"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"amount"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chemeClr val="accent2">
                    <a:lumMod val="76000"/>
                  </a:schemeClr>
                </a:solidFill>
              </a:rPr>
              <a:t>50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"datatype"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"jpeg"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 Placeholder 4"/>
          <p:cNvSpPr txBox="1"/>
          <p:nvPr/>
        </p:nvSpPr>
        <p:spPr>
          <a:xfrm>
            <a:off x="4636846" y="982856"/>
            <a:ext cx="3852442" cy="33867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"image_size"</a:t>
            </a:r>
            <a:r>
              <a:rPr lang="en-US" sz="1400">
                <a:solidFill>
                  <a:schemeClr val="bg1"/>
                </a:solidFill>
              </a:rPr>
              <a:t>: {</a:t>
            </a:r>
            <a:endParaRPr lang="en-US">
              <a:solidFill>
                <a:schemeClr val="bg1"/>
              </a:solidFill>
            </a:endParaRPr>
          </a:p>
          <a:p>
            <a:pPr>
              <a:buFont typeface="DM Sans"/>
              <a:buNone/>
            </a:pPr>
            <a:r>
              <a:rPr lang="en-US" sz="1400" dirty="0">
                <a:solidFill>
                  <a:schemeClr val="bg1"/>
                </a:solidFill>
              </a:rPr>
              <a:t>      </a:t>
            </a:r>
            <a:r>
              <a:rPr lang="en-US" sz="1400">
                <a:solidFill>
                  <a:srgbClr val="C00000"/>
                </a:solidFill>
              </a:rPr>
              <a:t>"width"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chemeClr val="accent2">
                    <a:lumMod val="76000"/>
                  </a:schemeClr>
                </a:solidFill>
              </a:rPr>
              <a:t>1024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Font typeface="DM Sans"/>
              <a:buNone/>
            </a:pPr>
            <a:r>
              <a:rPr lang="en-US" sz="1400" dirty="0">
                <a:solidFill>
                  <a:schemeClr val="bg1"/>
                </a:solidFill>
              </a:rPr>
              <a:t>      </a:t>
            </a:r>
            <a:r>
              <a:rPr lang="en-US" sz="1400">
                <a:solidFill>
                  <a:srgbClr val="C00000"/>
                </a:solidFill>
              </a:rPr>
              <a:t>"height"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chemeClr val="accent2">
                    <a:lumMod val="76000"/>
                  </a:schemeClr>
                </a:solidFill>
              </a:rPr>
              <a:t>768</a:t>
            </a:r>
            <a:endParaRPr lang="en-US">
              <a:solidFill>
                <a:schemeClr val="accent2">
                  <a:lumMod val="76000"/>
                </a:schemeClr>
              </a:solidFill>
            </a:endParaRPr>
          </a:p>
          <a:p>
            <a:pPr>
              <a:buFont typeface="DM Sans"/>
              <a:buNone/>
            </a:pPr>
            <a:r>
              <a:rPr lang="en-US" sz="1400">
                <a:solidFill>
                  <a:schemeClr val="bg1"/>
                </a:solidFill>
              </a:rPr>
              <a:t>    },</a:t>
            </a:r>
            <a:endParaRPr lang="en-US"/>
          </a:p>
          <a:p>
            <a:pPr>
              <a:buFont typeface="DM Sans"/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"output_format"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"COCO"</a:t>
            </a:r>
            <a:endParaRPr lang="en-US">
              <a:solidFill>
                <a:srgbClr val="00B050"/>
              </a:solidFill>
            </a:endParaRPr>
          </a:p>
          <a:p>
            <a:pPr>
              <a:buFont typeface="DM Sans"/>
              <a:buNone/>
            </a:pPr>
            <a:r>
              <a:rPr lang="en-US" sz="1400">
                <a:solidFill>
                  <a:schemeClr val="bg1"/>
                </a:solidFill>
              </a:rPr>
              <a:t>  },</a:t>
            </a:r>
            <a:endParaRPr lang="en-US"/>
          </a:p>
          <a:p>
            <a:pPr>
              <a:buFont typeface="DM Sans"/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"input_artifacts"</a:t>
            </a:r>
            <a:r>
              <a:rPr lang="en-US" sz="1400">
                <a:solidFill>
                  <a:schemeClr val="bg1"/>
                </a:solidFill>
              </a:rPr>
              <a:t>: [],</a:t>
            </a:r>
            <a:endParaRPr lang="en-US">
              <a:solidFill>
                <a:schemeClr val="bg1"/>
              </a:solidFill>
            </a:endParaRPr>
          </a:p>
          <a:p>
            <a:pPr>
              <a:buFont typeface="DM Sans"/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"expected_outputs"</a:t>
            </a:r>
            <a:r>
              <a:rPr lang="en-US" sz="1400">
                <a:solidFill>
                  <a:schemeClr val="bg1"/>
                </a:solidFill>
              </a:rPr>
              <a:t>: [</a:t>
            </a:r>
            <a:endParaRPr lang="en-US">
              <a:solidFill>
                <a:schemeClr val="bg1"/>
              </a:solidFill>
            </a:endParaRPr>
          </a:p>
          <a:p>
            <a:pPr>
              <a:buFont typeface="DM Sans"/>
              <a:buNone/>
            </a:pPr>
            <a:r>
              <a:rPr lang="en-US" sz="1400">
                <a:solidFill>
                  <a:schemeClr val="bg1"/>
                </a:solidFill>
              </a:rPr>
              <a:t>    {</a:t>
            </a:r>
            <a:endParaRPr lang="en-US"/>
          </a:p>
          <a:p>
            <a:pPr>
              <a:buFont typeface="DM Sans"/>
              <a:buNone/>
            </a:pPr>
            <a:r>
              <a:rPr lang="en-US" sz="1400" dirty="0">
                <a:solidFill>
                  <a:schemeClr val="bg1"/>
                </a:solidFill>
              </a:rPr>
              <a:t>      </a:t>
            </a:r>
            <a:r>
              <a:rPr lang="en-US" sz="1400">
                <a:solidFill>
                  <a:srgbClr val="C00000"/>
                </a:solidFill>
              </a:rPr>
              <a:t>"name"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"dataset_archive"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Font typeface="DM Sans"/>
              <a:buNone/>
            </a:pPr>
            <a:r>
              <a:rPr lang="en-US" sz="1400" dirty="0">
                <a:solidFill>
                  <a:schemeClr val="bg1"/>
                </a:solidFill>
              </a:rPr>
              <a:t>      </a:t>
            </a:r>
            <a:r>
              <a:rPr lang="en-US" sz="1400">
                <a:solidFill>
                  <a:srgbClr val="C00000"/>
                </a:solidFill>
              </a:rPr>
              <a:t>"type"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"zip"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Font typeface="DM Sans"/>
              <a:buNone/>
            </a:pPr>
            <a:r>
              <a:rPr lang="en-US" sz="1400" dirty="0">
                <a:solidFill>
                  <a:schemeClr val="bg1"/>
                </a:solidFill>
              </a:rPr>
              <a:t>      </a:t>
            </a:r>
            <a:r>
              <a:rPr lang="en-US" sz="1400">
                <a:solidFill>
                  <a:srgbClr val="C00000"/>
                </a:solidFill>
              </a:rPr>
              <a:t>"schema"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"dataset_schema_v2"</a:t>
            </a:r>
            <a:endParaRPr lang="en-US">
              <a:solidFill>
                <a:srgbClr val="00B050"/>
              </a:solidFill>
            </a:endParaRPr>
          </a:p>
          <a:p>
            <a:pPr>
              <a:buFont typeface="DM Sans"/>
              <a:buNone/>
            </a:pPr>
            <a:r>
              <a:rPr lang="en-US" sz="1400">
                <a:solidFill>
                  <a:schemeClr val="bg1"/>
                </a:solidFill>
              </a:rPr>
              <a:t>    }</a:t>
            </a:r>
            <a:endParaRPr lang="en-US"/>
          </a:p>
          <a:p>
            <a:pPr>
              <a:buFont typeface="DM Sans"/>
              <a:buNone/>
            </a:pPr>
            <a:r>
              <a:rPr lang="en-US" sz="1400">
                <a:solidFill>
                  <a:schemeClr val="bg1"/>
                </a:solidFill>
              </a:rPr>
              <a:t>  ]</a:t>
            </a:r>
            <a:endParaRPr lang="en-US"/>
          </a:p>
          <a:p>
            <a:pPr>
              <a:buFont typeface="DM Sans"/>
              <a:buNone/>
            </a:pPr>
            <a:r>
              <a:rPr lang="en-US" sz="1400">
                <a:solidFill>
                  <a:schemeClr val="bg1"/>
                </a:solidFill>
              </a:rPr>
              <a:t>}</a:t>
            </a:r>
            <a:endParaRPr lang="en-US">
              <a:solidFill>
                <a:schemeClr val="bg1"/>
              </a:solidFill>
            </a:endParaRPr>
          </a:p>
          <a:p>
            <a:pPr marL="127000" indent="0">
              <a:buFont typeface="Arial" panose="020B0604020202090204"/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127000" indent="0">
              <a:buFont typeface="DM Sans"/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387600"/>
            <a:ext cx="7437917" cy="592200"/>
          </a:xfrm>
        </p:spPr>
        <p:txBody>
          <a:bodyPr/>
          <a:lstStyle/>
          <a:p>
            <a:r>
              <a:rPr lang="en-US">
                <a:latin typeface="Verdana Pro Black" panose="020B0A04030504040204"/>
              </a:rPr>
              <a:t>Task Status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20000" y="985755"/>
            <a:ext cx="7436740" cy="3386700"/>
          </a:xfrm>
          <a:solidFill>
            <a:schemeClr val="bg2">
              <a:lumMod val="10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"header"</a:t>
            </a:r>
            <a:r>
              <a:rPr lang="en-US" sz="1400">
                <a:solidFill>
                  <a:schemeClr val="bg1"/>
                </a:solidFill>
              </a:rPr>
              <a:t>: { ... },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"body"</a:t>
            </a:r>
            <a:r>
              <a:rPr lang="en-US" sz="1400">
                <a:solidFill>
                  <a:schemeClr val="bg1"/>
                </a:solidFill>
              </a:rPr>
              <a:t>: 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"task_id"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"task_789"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"status"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"RUNNING"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"progress"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chemeClr val="accent2">
                    <a:lumMod val="76000"/>
                  </a:schemeClr>
                </a:solidFill>
              </a:rPr>
              <a:t>45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"estimated_completion"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"ISO8601"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 }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}</a:t>
            </a:r>
            <a:endParaRPr lang="en-US"/>
          </a:p>
          <a:p>
            <a:pPr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387600"/>
            <a:ext cx="7437917" cy="592200"/>
          </a:xfrm>
        </p:spPr>
        <p:txBody>
          <a:bodyPr/>
          <a:lstStyle/>
          <a:p>
            <a:r>
              <a:rPr lang="en-US">
                <a:latin typeface="Verdana Pro Black" panose="020B0A04030504040204"/>
              </a:rPr>
              <a:t>Task Response (Success)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20000" y="985755"/>
            <a:ext cx="3970469" cy="3392911"/>
          </a:xfrm>
          <a:solidFill>
            <a:schemeClr val="bg2">
              <a:lumMod val="10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"header"</a:t>
            </a:r>
            <a:r>
              <a:rPr lang="en-US" sz="1400">
                <a:solidFill>
                  <a:schemeClr val="bg1"/>
                </a:solidFill>
              </a:rPr>
              <a:t>: { ... },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"body"</a:t>
            </a:r>
            <a:r>
              <a:rPr lang="en-US" sz="1400">
                <a:solidFill>
                  <a:schemeClr val="bg1"/>
                </a:solidFill>
              </a:rPr>
              <a:t>: 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"task_id"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"task_789"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"status"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"COMPLETED"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</a:t>
            </a:r>
            <a:r>
              <a:rPr lang="en-US" sz="1400">
                <a:solidFill>
                  <a:srgbClr val="C00000"/>
                </a:solidFill>
              </a:rPr>
              <a:t> "execution_time_ms"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chemeClr val="accent2">
                    <a:lumMod val="76000"/>
                  </a:schemeClr>
                </a:solidFill>
              </a:rPr>
              <a:t>34212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"output_artifacts"</a:t>
            </a:r>
            <a:r>
              <a:rPr lang="en-US" sz="1400">
                <a:solidFill>
                  <a:schemeClr val="bg1"/>
                </a:solidFill>
              </a:rPr>
              <a:t>: [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    {</a:t>
            </a:r>
            <a:endParaRPr lang="en-US"/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   </a:t>
            </a:r>
            <a:r>
              <a:rPr lang="en-US" sz="1400">
                <a:solidFill>
                  <a:srgbClr val="C00000"/>
                </a:solidFill>
              </a:rPr>
              <a:t>"artifact_id"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"artifact_555"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   </a:t>
            </a:r>
            <a:r>
              <a:rPr lang="en-US" sz="1400">
                <a:solidFill>
                  <a:srgbClr val="C00000"/>
                </a:solidFill>
              </a:rPr>
              <a:t>"name"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"vehicle_dataset_v1"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   </a:t>
            </a:r>
            <a:r>
              <a:rPr lang="en-US" sz="1400">
                <a:solidFill>
                  <a:srgbClr val="C00000"/>
                </a:solidFill>
              </a:rPr>
              <a:t>"location"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"s3://datasets/vehicle_v1.zip"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   </a:t>
            </a:r>
            <a:r>
              <a:rPr lang="en-US" sz="1400">
                <a:solidFill>
                  <a:srgbClr val="C00000"/>
                </a:solidFill>
              </a:rPr>
              <a:t>"checksum"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"sha256:xxxx"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   </a:t>
            </a:r>
            <a:r>
              <a:rPr lang="en-US" sz="1400">
                <a:solidFill>
                  <a:srgbClr val="C00000"/>
                </a:solidFill>
              </a:rPr>
              <a:t>"metadata"</a:t>
            </a:r>
            <a:r>
              <a:rPr lang="en-US" sz="1400">
                <a:solidFill>
                  <a:schemeClr val="bg1"/>
                </a:solidFill>
              </a:rPr>
              <a:t>: 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     </a:t>
            </a:r>
            <a:r>
              <a:rPr lang="en-US" sz="1400">
                <a:solidFill>
                  <a:srgbClr val="C00000"/>
                </a:solidFill>
              </a:rPr>
              <a:t>"samples"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chemeClr val="accent2">
                    <a:lumMod val="76000"/>
                  </a:schemeClr>
                </a:solidFill>
              </a:rPr>
              <a:t>50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 Placeholder 4"/>
          <p:cNvSpPr txBox="1"/>
          <p:nvPr/>
        </p:nvSpPr>
        <p:spPr>
          <a:xfrm>
            <a:off x="4804568" y="982856"/>
            <a:ext cx="3684720" cy="3392911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     </a:t>
            </a:r>
            <a:r>
              <a:rPr lang="en-US" sz="1400">
                <a:solidFill>
                  <a:srgbClr val="C00000"/>
                </a:solidFill>
              </a:rPr>
              <a:t>"format"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"jpeg"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      }</a:t>
            </a:r>
            <a:endParaRPr lang="en-US"/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    }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  ],</a:t>
            </a:r>
            <a:endParaRPr lang="en-US"/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"logs_reference"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"logstore://task_789"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 }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}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387600"/>
            <a:ext cx="7437917" cy="592200"/>
          </a:xfrm>
        </p:spPr>
        <p:txBody>
          <a:bodyPr/>
          <a:lstStyle/>
          <a:p>
            <a:r>
              <a:rPr lang="en-US">
                <a:latin typeface="Verdana Pro Black" panose="020B0A04030504040204"/>
              </a:rPr>
              <a:t>Task Response (Failure)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20000" y="985755"/>
            <a:ext cx="7436739" cy="3386700"/>
          </a:xfrm>
          <a:solidFill>
            <a:schemeClr val="bg2">
              <a:lumMod val="10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"header"</a:t>
            </a:r>
            <a:r>
              <a:rPr lang="en-US" sz="1400">
                <a:solidFill>
                  <a:schemeClr val="bg1"/>
                </a:solidFill>
              </a:rPr>
              <a:t>: { ... },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"body"</a:t>
            </a:r>
            <a:r>
              <a:rPr lang="en-US" sz="1400">
                <a:solidFill>
                  <a:schemeClr val="bg1"/>
                </a:solidFill>
              </a:rPr>
              <a:t>: 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"task_id"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"task_789"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"status"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"FAILED"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"error"</a:t>
            </a:r>
            <a:r>
              <a:rPr lang="en-US" sz="1400">
                <a:solidFill>
                  <a:schemeClr val="bg1"/>
                </a:solidFill>
              </a:rPr>
              <a:t>: 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 </a:t>
            </a:r>
            <a:r>
              <a:rPr lang="en-US" sz="1400">
                <a:solidFill>
                  <a:srgbClr val="C00000"/>
                </a:solidFill>
              </a:rPr>
              <a:t>"error_code"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"DATA_GEN_TIMEOUT"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 </a:t>
            </a:r>
            <a:r>
              <a:rPr lang="en-US" sz="1400">
                <a:solidFill>
                  <a:srgbClr val="C00000"/>
                </a:solidFill>
              </a:rPr>
              <a:t>"error_message"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"Image generation exceeded timeout"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 </a:t>
            </a:r>
            <a:r>
              <a:rPr lang="en-US" sz="1400">
                <a:solidFill>
                  <a:srgbClr val="C00000"/>
                </a:solidFill>
              </a:rPr>
              <a:t>"retryable"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chemeClr val="tx2">
                    <a:lumMod val="90000"/>
                  </a:schemeClr>
                </a:solidFill>
              </a:rPr>
              <a:t>true</a:t>
            </a:r>
            <a:endParaRPr lang="en-US">
              <a:solidFill>
                <a:schemeClr val="tx2">
                  <a:lumMod val="90000"/>
                </a:schemeClr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  }</a:t>
            </a:r>
            <a:endParaRPr lang="en-US"/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 }</a:t>
            </a:r>
            <a:endParaRPr lang="en-US"/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}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387600"/>
            <a:ext cx="7437917" cy="592200"/>
          </a:xfrm>
        </p:spPr>
        <p:txBody>
          <a:bodyPr/>
          <a:lstStyle/>
          <a:p>
            <a:r>
              <a:rPr lang="en-US">
                <a:latin typeface="Verdana Pro Black" panose="020B0A04030504040204"/>
              </a:rPr>
              <a:t>Capability Registration Interface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20000" y="985755"/>
            <a:ext cx="4672420" cy="3386700"/>
          </a:xfrm>
          <a:solidFill>
            <a:schemeClr val="bg2">
              <a:lumMod val="10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"header"</a:t>
            </a:r>
            <a:r>
              <a:rPr lang="en-US" sz="1400">
                <a:solidFill>
                  <a:schemeClr val="bg1"/>
                </a:solidFill>
              </a:rPr>
              <a:t>: 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"message_type"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"CAPABILITY_ANNOUNCEMENT"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 },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"body"</a:t>
            </a:r>
            <a:r>
              <a:rPr lang="en-US" sz="1400">
                <a:solidFill>
                  <a:schemeClr val="bg1"/>
                </a:solidFill>
              </a:rPr>
              <a:t>: 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"agent_name"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"dataset_generator"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"version"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"2.1.0"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"supported_tasks"</a:t>
            </a:r>
            <a:r>
              <a:rPr lang="en-US" sz="1400">
                <a:solidFill>
                  <a:schemeClr val="bg1"/>
                </a:solidFill>
              </a:rPr>
              <a:t>: [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    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   </a:t>
            </a:r>
            <a:r>
              <a:rPr lang="en-US" sz="1400">
                <a:solidFill>
                  <a:srgbClr val="C00000"/>
                </a:solidFill>
              </a:rPr>
              <a:t>"task_type"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"generate_dataset"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   </a:t>
            </a:r>
            <a:r>
              <a:rPr lang="en-US" sz="1400">
                <a:solidFill>
                  <a:srgbClr val="C00000"/>
                </a:solidFill>
              </a:rPr>
              <a:t>"input_schema"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"dataset_gen_v2"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   </a:t>
            </a:r>
            <a:r>
              <a:rPr lang="en-US" sz="1400">
                <a:solidFill>
                  <a:srgbClr val="C00000"/>
                </a:solidFill>
              </a:rPr>
              <a:t>"output_schema"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rgbClr val="00B050"/>
                </a:solidFill>
              </a:rPr>
              <a:t>"dataset_artifact_v2"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    }</a:t>
            </a:r>
            <a:endParaRPr lang="en-US"/>
          </a:p>
          <a:p>
            <a:pPr>
              <a:buNone/>
            </a:pPr>
            <a:endParaRPr lang="en-US"/>
          </a:p>
        </p:txBody>
      </p:sp>
      <p:sp>
        <p:nvSpPr>
          <p:cNvPr id="4" name="Text Placeholder 4"/>
          <p:cNvSpPr txBox="1"/>
          <p:nvPr/>
        </p:nvSpPr>
        <p:spPr>
          <a:xfrm>
            <a:off x="5494095" y="982856"/>
            <a:ext cx="2995193" cy="3392911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  ],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 </a:t>
            </a:r>
            <a:r>
              <a:rPr lang="en-US" sz="1400">
                <a:solidFill>
                  <a:srgbClr val="C00000"/>
                </a:solidFill>
              </a:rPr>
              <a:t>"hardware_requirements"</a:t>
            </a:r>
            <a:r>
              <a:rPr lang="en-US" sz="1400">
                <a:solidFill>
                  <a:schemeClr val="bg1"/>
                </a:solidFill>
              </a:rPr>
              <a:t>: 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</a:t>
            </a:r>
            <a:r>
              <a:rPr lang="en-US" sz="1400">
                <a:solidFill>
                  <a:srgbClr val="C00000"/>
                </a:solidFill>
              </a:rPr>
              <a:t> "gpu"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chemeClr val="tx2">
                    <a:lumMod val="90000"/>
                  </a:schemeClr>
                </a:solidFill>
              </a:rPr>
              <a:t>true</a:t>
            </a:r>
            <a:r>
              <a:rPr lang="en-US" sz="1400">
                <a:solidFill>
                  <a:schemeClr val="bg1"/>
                </a:solidFill>
              </a:rPr>
              <a:t>,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     </a:t>
            </a:r>
            <a:r>
              <a:rPr lang="en-US" sz="1400">
                <a:solidFill>
                  <a:srgbClr val="C00000"/>
                </a:solidFill>
              </a:rPr>
              <a:t>"memory_gb"</a:t>
            </a:r>
            <a:r>
              <a:rPr lang="en-US" sz="1400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chemeClr val="accent2">
                    <a:lumMod val="76000"/>
                  </a:schemeClr>
                </a:solidFill>
              </a:rPr>
              <a:t>16</a:t>
            </a:r>
            <a:endParaRPr lang="en-US">
              <a:solidFill>
                <a:schemeClr val="accent2">
                  <a:lumMod val="76000"/>
                </a:schemeClr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  }</a:t>
            </a:r>
            <a:endParaRPr lang="en-US"/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 }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}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387600"/>
            <a:ext cx="7437917" cy="592200"/>
          </a:xfrm>
        </p:spPr>
        <p:txBody>
          <a:bodyPr/>
          <a:lstStyle/>
          <a:p>
            <a:r>
              <a:rPr lang="en-US">
                <a:latin typeface="Verdana Pro Black" panose="020B0A04030504040204"/>
              </a:rPr>
              <a:t>Pseudo Interface Specification: Agent API Contract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20000" y="1420591"/>
            <a:ext cx="7436740" cy="2945653"/>
          </a:xfrm>
          <a:solidFill>
            <a:schemeClr val="bg2">
              <a:lumMod val="10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400">
                <a:solidFill>
                  <a:schemeClr val="bg2">
                    <a:lumMod val="76000"/>
                  </a:schemeClr>
                </a:solidFill>
              </a:rPr>
              <a:t>interface </a:t>
            </a:r>
            <a:r>
              <a:rPr lang="en-US" sz="1400">
                <a:solidFill>
                  <a:srgbClr val="C00000"/>
                </a:solidFill>
              </a:rPr>
              <a:t>Agent </a:t>
            </a:r>
            <a:r>
              <a:rPr lang="en-US" sz="1400">
                <a:solidFill>
                  <a:schemeClr val="bg1"/>
                </a:solidFill>
              </a:rPr>
              <a:t>{</a:t>
            </a:r>
            <a:endParaRPr lang="en-US" sz="1400" dirty="0">
              <a:solidFill>
                <a:schemeClr val="bg1"/>
              </a:solidFill>
            </a:endParaRPr>
          </a:p>
          <a:p>
            <a:pPr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 onTaskRequest(TaskRequest request) -&gt; </a:t>
            </a:r>
            <a:r>
              <a:rPr lang="en-US" sz="1400">
                <a:solidFill>
                  <a:schemeClr val="bg2">
                    <a:lumMod val="76000"/>
                  </a:schemeClr>
                </a:solidFill>
              </a:rPr>
              <a:t>void</a:t>
            </a:r>
            <a:endParaRPr lang="en-US" sz="1400" dirty="0">
              <a:solidFill>
                <a:schemeClr val="bg2">
                  <a:lumMod val="76000"/>
                </a:schemeClr>
              </a:solidFill>
            </a:endParaRPr>
          </a:p>
          <a:p>
            <a:pPr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publishTaskStatus</a:t>
            </a:r>
            <a:r>
              <a:rPr lang="en-US" sz="1400">
                <a:solidFill>
                  <a:schemeClr val="bg1"/>
                </a:solidFill>
              </a:rPr>
              <a:t>(TaskStatus status) -&gt; </a:t>
            </a:r>
            <a:r>
              <a:rPr lang="en-US" sz="1400">
                <a:solidFill>
                  <a:schemeClr val="bg2">
                    <a:lumMod val="76000"/>
                  </a:schemeClr>
                </a:solidFill>
              </a:rPr>
              <a:t>void</a:t>
            </a:r>
            <a:endParaRPr lang="en-US" sz="1400" dirty="0">
              <a:solidFill>
                <a:schemeClr val="bg2">
                  <a:lumMod val="76000"/>
                </a:schemeClr>
              </a:solidFill>
            </a:endParaRPr>
          </a:p>
          <a:p>
            <a:pPr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publishTaskResponse</a:t>
            </a:r>
            <a:r>
              <a:rPr lang="en-US" sz="1400">
                <a:solidFill>
                  <a:schemeClr val="bg1"/>
                </a:solidFill>
              </a:rPr>
              <a:t>(TaskResponse response) -&gt; </a:t>
            </a:r>
            <a:r>
              <a:rPr lang="en-US" sz="1400">
                <a:solidFill>
                  <a:schemeClr val="bg2">
                    <a:lumMod val="76000"/>
                  </a:schemeClr>
                </a:solidFill>
              </a:rPr>
              <a:t>void</a:t>
            </a:r>
            <a:endParaRPr lang="en-US" sz="1400" dirty="0">
              <a:solidFill>
                <a:schemeClr val="bg2">
                  <a:lumMod val="76000"/>
                </a:schemeClr>
              </a:solidFill>
            </a:endParaRPr>
          </a:p>
          <a:p>
            <a:pPr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publishHeartbeat</a:t>
            </a:r>
            <a:r>
              <a:rPr lang="en-US" sz="1400">
                <a:solidFill>
                  <a:schemeClr val="bg1"/>
                </a:solidFill>
              </a:rPr>
              <a:t>(Heartbeat msg) -&gt; </a:t>
            </a:r>
            <a:r>
              <a:rPr lang="en-US" sz="1400">
                <a:solidFill>
                  <a:schemeClr val="bg2">
                    <a:lumMod val="76000"/>
                  </a:schemeClr>
                </a:solidFill>
              </a:rPr>
              <a:t>void</a:t>
            </a:r>
            <a:endParaRPr lang="en-US" sz="1400" dirty="0">
              <a:solidFill>
                <a:schemeClr val="bg2">
                  <a:lumMod val="76000"/>
                </a:schemeClr>
              </a:solidFill>
            </a:endParaRPr>
          </a:p>
          <a:p>
            <a:pPr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>
                <a:solidFill>
                  <a:srgbClr val="C00000"/>
                </a:solidFill>
              </a:rPr>
              <a:t>publishCapability</a:t>
            </a:r>
            <a:r>
              <a:rPr lang="en-US" sz="1400">
                <a:solidFill>
                  <a:schemeClr val="bg1"/>
                </a:solidFill>
              </a:rPr>
              <a:t>(CapabilityAnnouncement msg) -&gt; </a:t>
            </a:r>
            <a:r>
              <a:rPr lang="en-US" sz="1400">
                <a:solidFill>
                  <a:schemeClr val="bg2">
                    <a:lumMod val="76000"/>
                  </a:schemeClr>
                </a:solidFill>
              </a:rPr>
              <a:t>void</a:t>
            </a:r>
            <a:endParaRPr lang="en-US" sz="1400" dirty="0">
              <a:solidFill>
                <a:schemeClr val="bg2">
                  <a:lumMod val="76000"/>
                </a:schemeClr>
              </a:solidFill>
            </a:endParaRPr>
          </a:p>
          <a:p>
            <a:pPr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}</a:t>
            </a:r>
            <a:endParaRPr lang="en-US" sz="1400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387600"/>
            <a:ext cx="7437917" cy="592200"/>
          </a:xfrm>
        </p:spPr>
        <p:txBody>
          <a:bodyPr/>
          <a:lstStyle/>
          <a:p>
            <a:r>
              <a:rPr lang="en-US" dirty="0">
                <a:latin typeface="Verdana Pro Black" panose="020B0A04030504040204"/>
              </a:rPr>
              <a:t>Pseudo Interface Specification: </a:t>
            </a:r>
            <a:r>
              <a:rPr lang="en-US">
                <a:latin typeface="Verdana Pro Black" panose="020B0A04030504040204"/>
              </a:rPr>
              <a:t>Orchestrator API Contract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20000" y="1420591"/>
            <a:ext cx="7436740" cy="2945653"/>
          </a:xfrm>
          <a:solidFill>
            <a:schemeClr val="bg2">
              <a:lumMod val="10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interface Orchestrator {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 dirty="0" err="1">
                <a:solidFill>
                  <a:schemeClr val="accent3">
                    <a:lumMod val="49000"/>
                  </a:schemeClr>
                </a:solidFill>
              </a:rPr>
              <a:t>registerAgent</a:t>
            </a:r>
            <a:r>
              <a:rPr lang="en-US" sz="1400" dirty="0">
                <a:solidFill>
                  <a:schemeClr val="bg1"/>
                </a:solidFill>
              </a:rPr>
              <a:t>(</a:t>
            </a:r>
            <a:r>
              <a:rPr lang="en-US" sz="1400" dirty="0" err="1">
                <a:solidFill>
                  <a:schemeClr val="bg1"/>
                </a:solidFill>
              </a:rPr>
              <a:t>CapabilityAnnouncement</a:t>
            </a:r>
            <a:r>
              <a:rPr lang="en-US" sz="1400" dirty="0">
                <a:solidFill>
                  <a:schemeClr val="bg1"/>
                </a:solidFill>
              </a:rPr>
              <a:t> capability)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 dirty="0" err="1">
                <a:solidFill>
                  <a:schemeClr val="accent3">
                    <a:lumMod val="49000"/>
                  </a:schemeClr>
                </a:solidFill>
              </a:rPr>
              <a:t>dispatchTask</a:t>
            </a:r>
            <a:r>
              <a:rPr lang="en-US" sz="1400" dirty="0">
                <a:solidFill>
                  <a:schemeClr val="bg1"/>
                </a:solidFill>
              </a:rPr>
              <a:t>(</a:t>
            </a:r>
            <a:r>
              <a:rPr lang="en-US" sz="1400" dirty="0" err="1">
                <a:solidFill>
                  <a:schemeClr val="bg1"/>
                </a:solidFill>
              </a:rPr>
              <a:t>TaskRequest</a:t>
            </a:r>
            <a:r>
              <a:rPr lang="en-US" sz="1400" dirty="0">
                <a:solidFill>
                  <a:schemeClr val="bg1"/>
                </a:solidFill>
              </a:rPr>
              <a:t> request)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 dirty="0" err="1">
                <a:solidFill>
                  <a:schemeClr val="accent3">
                    <a:lumMod val="49000"/>
                  </a:schemeClr>
                </a:solidFill>
              </a:rPr>
              <a:t>updateTaskState</a:t>
            </a:r>
            <a:r>
              <a:rPr lang="en-US" sz="1400" dirty="0">
                <a:solidFill>
                  <a:schemeClr val="bg1"/>
                </a:solidFill>
              </a:rPr>
              <a:t>(</a:t>
            </a:r>
            <a:r>
              <a:rPr lang="en-US" sz="1400" dirty="0" err="1">
                <a:solidFill>
                  <a:schemeClr val="bg1"/>
                </a:solidFill>
              </a:rPr>
              <a:t>TaskStatus</a:t>
            </a:r>
            <a:r>
              <a:rPr lang="en-US" sz="1400" dirty="0">
                <a:solidFill>
                  <a:schemeClr val="bg1"/>
                </a:solidFill>
              </a:rPr>
              <a:t> status)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 dirty="0" err="1">
                <a:solidFill>
                  <a:schemeClr val="accent3">
                    <a:lumMod val="49000"/>
                  </a:schemeClr>
                </a:solidFill>
              </a:rPr>
              <a:t>finalizeTask</a:t>
            </a:r>
            <a:r>
              <a:rPr lang="en-US" sz="1400" dirty="0">
                <a:solidFill>
                  <a:schemeClr val="bg1"/>
                </a:solidFill>
              </a:rPr>
              <a:t>(</a:t>
            </a:r>
            <a:r>
              <a:rPr lang="en-US" sz="1400" dirty="0" err="1">
                <a:solidFill>
                  <a:schemeClr val="bg1"/>
                </a:solidFill>
              </a:rPr>
              <a:t>TaskResponse</a:t>
            </a:r>
            <a:r>
              <a:rPr lang="en-US" sz="1400" dirty="0">
                <a:solidFill>
                  <a:schemeClr val="bg1"/>
                </a:solidFill>
              </a:rPr>
              <a:t> response)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  </a:t>
            </a:r>
            <a:r>
              <a:rPr lang="en-US" sz="1400" dirty="0" err="1">
                <a:solidFill>
                  <a:schemeClr val="accent3">
                    <a:lumMod val="49000"/>
                  </a:schemeClr>
                </a:solidFill>
              </a:rPr>
              <a:t>handleFailure</a:t>
            </a:r>
            <a:r>
              <a:rPr lang="en-US" sz="1400" dirty="0">
                <a:solidFill>
                  <a:schemeClr val="bg1"/>
                </a:solidFill>
              </a:rPr>
              <a:t>(</a:t>
            </a:r>
            <a:r>
              <a:rPr lang="en-US" sz="1400" dirty="0" err="1">
                <a:solidFill>
                  <a:schemeClr val="bg1"/>
                </a:solidFill>
              </a:rPr>
              <a:t>ErrorMessage</a:t>
            </a:r>
            <a:r>
              <a:rPr lang="en-US" sz="1400" dirty="0">
                <a:solidFill>
                  <a:schemeClr val="bg1"/>
                </a:solidFill>
              </a:rPr>
              <a:t> error)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}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8"/>
          <p:cNvSpPr txBox="1">
            <a:spLocks noGrp="1"/>
          </p:cNvSpPr>
          <p:nvPr>
            <p:ph type="title"/>
          </p:nvPr>
        </p:nvSpPr>
        <p:spPr>
          <a:xfrm>
            <a:off x="4760975" y="2081775"/>
            <a:ext cx="3850309" cy="9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3000">
                <a:latin typeface="Verdana Pro Black" panose="020B0A04030504040204"/>
              </a:rPr>
              <a:t>Orchestrator</a:t>
            </a:r>
            <a:endParaRPr lang="en-GB" sz="3000" dirty="0"/>
          </a:p>
        </p:txBody>
      </p:sp>
      <p:pic>
        <p:nvPicPr>
          <p:cNvPr id="5" name="Resim 4" descr="A blue logo with a black background&#10;&#10;Yapay zeka tarafından oluşturulan içerik yanlış olabilir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627" y="1093156"/>
            <a:ext cx="2920851" cy="25599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Verdana Pro Black" panose="020B0A04030504040204"/>
              </a:rPr>
              <a:t>States -&gt; Transitions</a:t>
            </a:r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4836" y="1198907"/>
          <a:ext cx="7735954" cy="2743200"/>
        </p:xfrm>
        <a:graphic>
          <a:graphicData uri="http://schemas.openxmlformats.org/drawingml/2006/table">
            <a:tbl>
              <a:tblPr firstRow="1" bandRow="1">
                <a:tableStyleId>{8753B7AA-8CF8-4D28-97A8-8C978B483A9B}</a:tableStyleId>
              </a:tblPr>
              <a:tblGrid>
                <a:gridCol w="2787926"/>
                <a:gridCol w="2922103"/>
                <a:gridCol w="2025925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From</a:t>
                      </a:r>
                      <a:endParaRPr lang="en-US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Event</a:t>
                      </a:r>
                      <a:endParaRPr lang="en-US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</a:t>
                      </a:r>
                      <a:endParaRPr lang="en-US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INITIALIZING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Agents registered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IDLE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IDLE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Workflow submitted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 workflows done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IDLE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Agent failure detected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DEGRADED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DEGRADED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Recovery successful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DEGRADED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Critical failure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RECOVERY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RECOVERY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restored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IDLE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Shutdown signal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SHUTDOWN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387600"/>
            <a:ext cx="7106743" cy="592200"/>
          </a:xfrm>
        </p:spPr>
        <p:txBody>
          <a:bodyPr/>
          <a:lstStyle/>
          <a:p>
            <a:r>
              <a:rPr lang="en-US" dirty="0">
                <a:latin typeface="Verdana Pro Black" panose="020B0A04030504040204"/>
              </a:rPr>
              <a:t>Orchestrator Internal Modules </a:t>
            </a:r>
            <a:r>
              <a:rPr lang="en-US">
                <a:latin typeface="Verdana Pro Black" panose="020B0A04030504040204"/>
              </a:rPr>
              <a:t>(example)</a:t>
            </a:r>
            <a:endParaRPr lang="en-US"/>
          </a:p>
        </p:txBody>
      </p:sp>
      <p:sp>
        <p:nvSpPr>
          <p:cNvPr id="4" name="Text Placeholder 4"/>
          <p:cNvSpPr>
            <a:spLocks noGrp="1"/>
          </p:cNvSpPr>
          <p:nvPr>
            <p:ph type="body" idx="1"/>
          </p:nvPr>
        </p:nvSpPr>
        <p:spPr>
          <a:xfrm>
            <a:off x="720000" y="1445439"/>
            <a:ext cx="7107506" cy="2927016"/>
          </a:xfrm>
          <a:solidFill>
            <a:schemeClr val="bg2">
              <a:lumMod val="10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+</a:t>
            </a:r>
            <a:r>
              <a:rPr lang="en-US" sz="1400" dirty="0">
                <a:solidFill>
                  <a:srgbClr val="C00000"/>
                </a:solidFill>
              </a:rPr>
              <a:t>-------------------------------------------------</a:t>
            </a:r>
            <a:r>
              <a:rPr lang="en-US" sz="1400" dirty="0">
                <a:solidFill>
                  <a:schemeClr val="bg1"/>
                </a:solidFill>
              </a:rPr>
              <a:t>+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| ORCHESTRATOR                                                                   |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|</a:t>
            </a:r>
            <a:r>
              <a:rPr lang="en-US" sz="1400">
                <a:solidFill>
                  <a:srgbClr val="C00000"/>
                </a:solidFill>
              </a:rPr>
              <a:t>--------------------------------------------------</a:t>
            </a:r>
            <a:r>
              <a:rPr lang="en-US" sz="1400">
                <a:solidFill>
                  <a:schemeClr val="bg1"/>
                </a:solidFill>
              </a:rPr>
              <a:t>|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| </a:t>
            </a:r>
            <a:r>
              <a:rPr lang="en-US" sz="1400" dirty="0">
                <a:solidFill>
                  <a:srgbClr val="C00000"/>
                </a:solidFill>
              </a:rPr>
              <a:t>1. </a:t>
            </a:r>
            <a:r>
              <a:rPr lang="en-US" sz="1400">
                <a:solidFill>
                  <a:schemeClr val="bg1"/>
                </a:solidFill>
              </a:rPr>
              <a:t>Workflow Manager                                                            |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| </a:t>
            </a:r>
            <a:r>
              <a:rPr lang="en-US" sz="1400" dirty="0">
                <a:solidFill>
                  <a:srgbClr val="C00000"/>
                </a:solidFill>
              </a:rPr>
              <a:t>2.</a:t>
            </a:r>
            <a:r>
              <a:rPr lang="en-US" sz="1400">
                <a:solidFill>
                  <a:schemeClr val="bg1"/>
                </a:solidFill>
              </a:rPr>
              <a:t> Task Scheduler                                                                 |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| </a:t>
            </a:r>
            <a:r>
              <a:rPr lang="en-US" sz="1400">
                <a:solidFill>
                  <a:srgbClr val="C00000"/>
                </a:solidFill>
              </a:rPr>
              <a:t>3. </a:t>
            </a:r>
            <a:r>
              <a:rPr lang="en-US" sz="1400">
                <a:solidFill>
                  <a:schemeClr val="bg1"/>
                </a:solidFill>
              </a:rPr>
              <a:t>Agent Registry                                                                  |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| </a:t>
            </a:r>
            <a:r>
              <a:rPr lang="en-US" sz="1400">
                <a:solidFill>
                  <a:srgbClr val="C00000"/>
                </a:solidFill>
              </a:rPr>
              <a:t>4. </a:t>
            </a:r>
            <a:r>
              <a:rPr lang="en-US" sz="1400">
                <a:solidFill>
                  <a:schemeClr val="bg1"/>
                </a:solidFill>
              </a:rPr>
              <a:t>State Store                                                                        |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| </a:t>
            </a:r>
            <a:r>
              <a:rPr lang="en-US" sz="1400">
                <a:solidFill>
                  <a:srgbClr val="C00000"/>
                </a:solidFill>
              </a:rPr>
              <a:t>5. </a:t>
            </a:r>
            <a:r>
              <a:rPr lang="en-US" sz="1400">
                <a:solidFill>
                  <a:schemeClr val="bg1"/>
                </a:solidFill>
              </a:rPr>
              <a:t>Event Processor                                                               |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| </a:t>
            </a:r>
            <a:r>
              <a:rPr lang="en-US" sz="1400">
                <a:solidFill>
                  <a:srgbClr val="C00000"/>
                </a:solidFill>
              </a:rPr>
              <a:t>6. </a:t>
            </a:r>
            <a:r>
              <a:rPr lang="en-US" sz="1400">
                <a:solidFill>
                  <a:schemeClr val="bg1"/>
                </a:solidFill>
              </a:rPr>
              <a:t>Provenance Manager                                                       |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| </a:t>
            </a:r>
            <a:r>
              <a:rPr lang="en-US" sz="1400">
                <a:solidFill>
                  <a:srgbClr val="C00000"/>
                </a:solidFill>
              </a:rPr>
              <a:t>7. </a:t>
            </a:r>
            <a:r>
              <a:rPr lang="en-US" sz="1400">
                <a:solidFill>
                  <a:schemeClr val="bg1"/>
                </a:solidFill>
              </a:rPr>
              <a:t>Retry Manager                                                                   |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| </a:t>
            </a:r>
            <a:r>
              <a:rPr lang="en-US" sz="1400">
                <a:solidFill>
                  <a:srgbClr val="C00000"/>
                </a:solidFill>
              </a:rPr>
              <a:t>8. </a:t>
            </a:r>
            <a:r>
              <a:rPr lang="en-US" sz="1400">
                <a:solidFill>
                  <a:schemeClr val="bg1"/>
                </a:solidFill>
              </a:rPr>
              <a:t>Timeout Monitor                                                               |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| </a:t>
            </a:r>
            <a:r>
              <a:rPr lang="en-US" sz="1400">
                <a:solidFill>
                  <a:srgbClr val="C00000"/>
                </a:solidFill>
              </a:rPr>
              <a:t>9.</a:t>
            </a:r>
            <a:r>
              <a:rPr lang="en-US" sz="1400">
                <a:solidFill>
                  <a:schemeClr val="bg1"/>
                </a:solidFill>
              </a:rPr>
              <a:t> Compensation Engine                                                     |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+</a:t>
            </a:r>
            <a:r>
              <a:rPr lang="en-US" sz="1400" dirty="0">
                <a:solidFill>
                  <a:srgbClr val="C00000"/>
                </a:solidFill>
              </a:rPr>
              <a:t>-------------------------------------------------</a:t>
            </a:r>
            <a:r>
              <a:rPr lang="en-US" sz="1400" dirty="0">
                <a:solidFill>
                  <a:schemeClr val="bg1"/>
                </a:solidFill>
              </a:rPr>
              <a:t>+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387600"/>
            <a:ext cx="7106743" cy="592200"/>
          </a:xfrm>
        </p:spPr>
        <p:txBody>
          <a:bodyPr/>
          <a:lstStyle/>
          <a:p>
            <a:r>
              <a:rPr lang="en-US">
                <a:latin typeface="Verdana Pro Black" panose="020B0A04030504040204"/>
              </a:rPr>
              <a:t>Task State Machine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idx="1"/>
          </p:nvPr>
        </p:nvSpPr>
        <p:spPr>
          <a:xfrm>
            <a:off x="720000" y="985755"/>
            <a:ext cx="7697641" cy="3386700"/>
          </a:xfrm>
          <a:solidFill>
            <a:schemeClr val="bg2">
              <a:lumMod val="10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400" dirty="0">
                <a:solidFill>
                  <a:schemeClr val="bg1"/>
                </a:solidFill>
              </a:rPr>
              <a:t>CREATED                            </a:t>
            </a:r>
            <a:r>
              <a:rPr lang="en-US" sz="1400">
                <a:solidFill>
                  <a:srgbClr val="00B050"/>
                </a:solidFill>
              </a:rPr>
              <a:t># Task exists but not yet scheduled.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QUEUED                              </a:t>
            </a:r>
            <a:r>
              <a:rPr lang="en-US" sz="1400">
                <a:solidFill>
                  <a:srgbClr val="00B050"/>
                </a:solidFill>
              </a:rPr>
              <a:t># Ready for execution but waiting for agent availability.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DISPATCHED                      </a:t>
            </a:r>
            <a:r>
              <a:rPr lang="en-US" sz="1400">
                <a:solidFill>
                  <a:srgbClr val="00B050"/>
                </a:solidFill>
              </a:rPr>
              <a:t># Message sent to agent.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ACKNOWLEDGED              </a:t>
            </a:r>
            <a:r>
              <a:rPr lang="en-US" sz="1400">
                <a:solidFill>
                  <a:srgbClr val="00B050"/>
                </a:solidFill>
              </a:rPr>
              <a:t># Agent confirmed receipt.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RUNNING                            </a:t>
            </a:r>
            <a:r>
              <a:rPr lang="en-US" sz="1400">
                <a:solidFill>
                  <a:srgbClr val="00B050"/>
                </a:solidFill>
              </a:rPr>
              <a:t># Agent actively executing.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PROGRESSING                   </a:t>
            </a:r>
            <a:r>
              <a:rPr lang="en-US" sz="1400">
                <a:solidFill>
                  <a:srgbClr val="00B050"/>
                </a:solidFill>
              </a:rPr>
              <a:t># Optional granular state for long-running tasks.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COMPLETED                      </a:t>
            </a:r>
            <a:r>
              <a:rPr lang="en-US" sz="1400">
                <a:solidFill>
                  <a:srgbClr val="00B050"/>
                </a:solidFill>
              </a:rPr>
              <a:t># Successful execution.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FAILED                                </a:t>
            </a:r>
            <a:r>
              <a:rPr lang="en-US" sz="1400">
                <a:solidFill>
                  <a:srgbClr val="00B050"/>
                </a:solidFill>
              </a:rPr>
              <a:t># Execution failed.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RETRYING                           </a:t>
            </a:r>
            <a:r>
              <a:rPr lang="en-US" sz="1400">
                <a:solidFill>
                  <a:srgbClr val="00B050"/>
                </a:solidFill>
              </a:rPr>
              <a:t># Retry policy activated.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TIMEOUT                            </a:t>
            </a:r>
            <a:r>
              <a:rPr lang="en-US" sz="1400">
                <a:solidFill>
                  <a:srgbClr val="00B050"/>
                </a:solidFill>
              </a:rPr>
              <a:t># Exceeded execution deadline.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3">
                    <a:lumMod val="76000"/>
                  </a:schemeClr>
                </a:solidFill>
              </a:rPr>
              <a:t>CANCELLED                      </a:t>
            </a:r>
            <a:r>
              <a:rPr lang="en-US" sz="1400">
                <a:solidFill>
                  <a:srgbClr val="00B050"/>
                </a:solidFill>
              </a:rPr>
              <a:t># Manually cancelled.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COMPENSATING               </a:t>
            </a:r>
            <a:r>
              <a:rPr lang="en-US" sz="1400">
                <a:solidFill>
                  <a:srgbClr val="00B050"/>
                </a:solidFill>
              </a:rPr>
              <a:t># Rollback logic executing.</a:t>
            </a:r>
            <a:endParaRPr lang="en-US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COMPENSATED                 </a:t>
            </a:r>
            <a:r>
              <a:rPr lang="en-US" sz="1400">
                <a:solidFill>
                  <a:srgbClr val="00B050"/>
                </a:solidFill>
              </a:rPr>
              <a:t># Rollback completed.</a:t>
            </a:r>
            <a:endParaRPr lang="en-US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387600"/>
            <a:ext cx="7106743" cy="592200"/>
          </a:xfrm>
        </p:spPr>
        <p:txBody>
          <a:bodyPr/>
          <a:lstStyle/>
          <a:p>
            <a:r>
              <a:rPr lang="en-US">
                <a:latin typeface="Verdana Pro Black" panose="020B0A04030504040204"/>
              </a:rPr>
              <a:t>Workflow Transition Diagram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idx="1"/>
          </p:nvPr>
        </p:nvSpPr>
        <p:spPr>
          <a:xfrm>
            <a:off x="720000" y="985755"/>
            <a:ext cx="7697641" cy="3386700"/>
          </a:xfrm>
          <a:solidFill>
            <a:schemeClr val="bg2">
              <a:lumMod val="10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CREATED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 ↓ validate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VALIDATING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 ↓ valid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READY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 ↓ dispatch </a:t>
            </a:r>
            <a:r>
              <a:rPr lang="en-US" sz="1400">
                <a:solidFill>
                  <a:schemeClr val="bg2">
                    <a:lumMod val="76000"/>
                  </a:schemeClr>
                </a:solidFill>
              </a:rPr>
              <a:t>first </a:t>
            </a:r>
            <a:r>
              <a:rPr lang="en-US" sz="1400">
                <a:solidFill>
                  <a:schemeClr val="bg1"/>
                </a:solidFill>
              </a:rPr>
              <a:t>tasks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2">
                    <a:lumMod val="76000"/>
                  </a:schemeClr>
                </a:solidFill>
              </a:rPr>
              <a:t>RUNNING</a:t>
            </a:r>
            <a:endParaRPr lang="en-US">
              <a:solidFill>
                <a:schemeClr val="bg2">
                  <a:lumMod val="76000"/>
                </a:schemeClr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 ↓ tasks pending dependencies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BLOCKED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 ↓ dependency resolved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2">
                    <a:lumMod val="76000"/>
                  </a:schemeClr>
                </a:solidFill>
              </a:rPr>
              <a:t>RUNNING</a:t>
            </a:r>
            <a:endParaRPr lang="en-US">
              <a:solidFill>
                <a:schemeClr val="bg2">
                  <a:lumMod val="76000"/>
                </a:schemeClr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 ↓ </a:t>
            </a:r>
            <a:r>
              <a:rPr lang="en-US" sz="1400">
                <a:solidFill>
                  <a:schemeClr val="bg2">
                    <a:lumMod val="76000"/>
                  </a:schemeClr>
                </a:solidFill>
              </a:rPr>
              <a:t>all </a:t>
            </a:r>
            <a:r>
              <a:rPr lang="en-US" sz="1400">
                <a:solidFill>
                  <a:schemeClr val="bg1"/>
                </a:solidFill>
              </a:rPr>
              <a:t>tasks completed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COMPLETED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   ↓ error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400">
                <a:solidFill>
                  <a:schemeClr val="bg1"/>
                </a:solidFill>
              </a:rPr>
              <a:t>FAILED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8"/>
          <p:cNvSpPr txBox="1">
            <a:spLocks noGrp="1"/>
          </p:cNvSpPr>
          <p:nvPr>
            <p:ph type="title"/>
          </p:nvPr>
        </p:nvSpPr>
        <p:spPr>
          <a:xfrm>
            <a:off x="4760975" y="982071"/>
            <a:ext cx="3555900" cy="9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THANKS!</a:t>
            </a:r>
            <a:endParaRPr lang="en-GB"/>
          </a:p>
        </p:txBody>
      </p:sp>
      <p:pic>
        <p:nvPicPr>
          <p:cNvPr id="5" name="Resim 4" descr="A blue logo with a black background&#10;&#10;Yapay zeka tarafından oluşturulan içerik yanlış olabilir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627" y="1093156"/>
            <a:ext cx="2920851" cy="2559988"/>
          </a:xfrm>
          <a:prstGeom prst="rect">
            <a:avLst/>
          </a:prstGeom>
          <a:ln>
            <a:noFill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781" y="2781776"/>
            <a:ext cx="385443" cy="308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742" y="2781776"/>
            <a:ext cx="556375" cy="266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ommissariat à l'énergie atomique et aux énergies alternatives — Wikipéd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032" y="2736191"/>
            <a:ext cx="358117" cy="35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TCL Centro Tecnológico. - H2CY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542" y="2799634"/>
            <a:ext cx="524122" cy="231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41"/>
          <a:stretch>
            <a:fillRect/>
          </a:stretch>
        </p:blipFill>
        <p:spPr bwMode="auto">
          <a:xfrm>
            <a:off x="7586760" y="2753112"/>
            <a:ext cx="613839" cy="32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990" y="3156056"/>
            <a:ext cx="507377" cy="33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157" y="3640818"/>
            <a:ext cx="657517" cy="189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ErArGe - Ergünler Co. Ltd. R&amp;D Center Competitors ...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8" b="26728"/>
          <a:stretch>
            <a:fillRect/>
          </a:stretch>
        </p:blipFill>
        <p:spPr bwMode="auto">
          <a:xfrm>
            <a:off x="4945634" y="3630755"/>
            <a:ext cx="523892" cy="24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99" b="26653"/>
          <a:stretch>
            <a:fillRect/>
          </a:stretch>
        </p:blipFill>
        <p:spPr bwMode="auto">
          <a:xfrm>
            <a:off x="6450600" y="3619012"/>
            <a:ext cx="647700" cy="27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Swiss Open Access Repository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383" y="3631713"/>
            <a:ext cx="743361" cy="222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Resim 6" descr="yazı tipi, metin, logo, grafik içeren bir resim&#10;&#10;Yapay zeka tarafından oluşturulmuş içerik yanlış olabilir.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4381" y="3193671"/>
            <a:ext cx="563765" cy="280178"/>
          </a:xfrm>
          <a:prstGeom prst="rect">
            <a:avLst/>
          </a:prstGeom>
        </p:spPr>
      </p:pic>
      <p:pic>
        <p:nvPicPr>
          <p:cNvPr id="9" name="Resim 8" descr="karmin, karanlık, grafik içeren bir resim&#10;&#10;Yapay zeka tarafından oluşturulmuş içerik yanlış olabilir.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5278" y="2798697"/>
            <a:ext cx="667368" cy="266947"/>
          </a:xfrm>
          <a:prstGeom prst="rect">
            <a:avLst/>
          </a:prstGeom>
        </p:spPr>
      </p:pic>
      <p:pic>
        <p:nvPicPr>
          <p:cNvPr id="1058" name="Picture 34" descr="Idener Research and Development A.I.E — DiCiM Project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970" y="3195799"/>
            <a:ext cx="796772" cy="28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Download HD Logo Università Di Reading - University Of Reading Logo  Transparent PNG Image - NicePNG.com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425" y="3220638"/>
            <a:ext cx="680809" cy="220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Resim 10" descr="yazı tipi, metin, grafik, logo içeren bir resim&#10;&#10;Yapay zeka tarafından oluşturulmuş içerik yanlış olabilir.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66626" y="3203388"/>
            <a:ext cx="561953" cy="2555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I4SWENG Presentation Template">
  <a:themeElements>
    <a:clrScheme name="Simple Light">
      <a:dk1>
        <a:srgbClr val="070E49"/>
      </a:dk1>
      <a:lt1>
        <a:srgbClr val="FFFFFF"/>
      </a:lt1>
      <a:dk2>
        <a:srgbClr val="DED7FF"/>
      </a:dk2>
      <a:lt2>
        <a:srgbClr val="B19CFE"/>
      </a:lt2>
      <a:accent1>
        <a:srgbClr val="542FD0"/>
      </a:accent1>
      <a:accent2>
        <a:srgbClr val="F61B93"/>
      </a:accent2>
      <a:accent3>
        <a:srgbClr val="FFC655"/>
      </a:accent3>
      <a:accent4>
        <a:srgbClr val="FFFFFF"/>
      </a:accent4>
      <a:accent5>
        <a:srgbClr val="FFFFFF"/>
      </a:accent5>
      <a:accent6>
        <a:srgbClr val="FFFFFF"/>
      </a:accent6>
      <a:hlink>
        <a:srgbClr val="070E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5761</Words>
  <Application>WPS Writer</Application>
  <PresentationFormat>On-screen Show (16:9)</PresentationFormat>
  <Paragraphs>344</Paragraphs>
  <Slides>20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</vt:lpstr>
      <vt:lpstr>SimSun</vt:lpstr>
      <vt:lpstr>Wingdings</vt:lpstr>
      <vt:lpstr>Arial</vt:lpstr>
      <vt:lpstr>Golos Text ExtraBold</vt:lpstr>
      <vt:lpstr>Thonburi</vt:lpstr>
      <vt:lpstr>DM Sans</vt:lpstr>
      <vt:lpstr>Verdana Pro Black</vt:lpstr>
      <vt:lpstr>Palanquin Dark</vt:lpstr>
      <vt:lpstr>Roboto Condensed Light</vt:lpstr>
      <vt:lpstr>Fredoka One</vt:lpstr>
      <vt:lpstr>Helvetica Neue</vt:lpstr>
      <vt:lpstr>Verdana Pro Black</vt:lpstr>
      <vt:lpstr>Courier New</vt:lpstr>
      <vt:lpstr>Microsoft YaHei</vt:lpstr>
      <vt:lpstr>汉仪旗黑</vt:lpstr>
      <vt:lpstr>Arial Unicode MS</vt:lpstr>
      <vt:lpstr>AI4SWENG Presentation Template</vt:lpstr>
      <vt:lpstr>On KIO Interfaces</vt:lpstr>
      <vt:lpstr>AGENDA</vt:lpstr>
      <vt:lpstr>Design Principles</vt:lpstr>
      <vt:lpstr>Design Principles</vt:lpstr>
      <vt:lpstr>Interface</vt:lpstr>
      <vt:lpstr>API Concept</vt:lpstr>
      <vt:lpstr>Unified Message Envelope</vt:lpstr>
      <vt:lpstr>Task Request Body</vt:lpstr>
      <vt:lpstr>Task Status Message</vt:lpstr>
      <vt:lpstr>Task Response (Success)</vt:lpstr>
      <vt:lpstr>Task Response (Failure)</vt:lpstr>
      <vt:lpstr>Capability Registration Interface</vt:lpstr>
      <vt:lpstr>Pseudo Interface Specification: Agent API Contract</vt:lpstr>
      <vt:lpstr>Pseudo Interface Specification: Orchestrator API Contract</vt:lpstr>
      <vt:lpstr>Orchestrator</vt:lpstr>
      <vt:lpstr>States -&gt; Transitions</vt:lpstr>
      <vt:lpstr>Orchestrator Internal Modules (example)</vt:lpstr>
      <vt:lpstr>Task State Machine</vt:lpstr>
      <vt:lpstr>Workflow Transition Diagram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WP5 - System Integration &amp; Validation in Use-Cases</dc:title>
  <dc:creator>Omer</dc:creator>
  <cp:lastModifiedBy>Ali Serdar Atalay</cp:lastModifiedBy>
  <cp:revision>357</cp:revision>
  <dcterms:created xsi:type="dcterms:W3CDTF">2026-06-09T06:12:25Z</dcterms:created>
  <dcterms:modified xsi:type="dcterms:W3CDTF">2026-06-09T06:12:25Z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0x0101005053F680AB723E448367B537FE4F4FBA</vt:lpwstr>
  </property>
  <property fmtid="{D5CDD505-2E9C-101B-9397-08002B2CF9AE}" pid="3" name="MediaServiceImageTags">
    <vt:lpwstr/>
  </property>
  <property fmtid="{D5CDD505-2E9C-101B-9397-08002B2CF9AE}" pid="4" name="ICV">
    <vt:lpwstr>48C176B56B2BF7EEC8AE276A6704011F_43</vt:lpwstr>
  </property>
  <property fmtid="{D5CDD505-2E9C-101B-9397-08002B2CF9AE}" pid="5" name="KSOProductBuildVer">
    <vt:lpwstr>1033-6.10.1.8203</vt:lpwstr>
  </property>
</Properties>
</file>